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2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319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FE1E34-A323-2E82-A53A-83872E4D9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8A7D69B-495C-64B7-6C64-9FC89A2573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F6E9599-E57E-90C7-DB24-C0AF6B1EB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BDBD5-DDF5-4A9F-B639-A0E449BBD6C2}" type="datetimeFigureOut">
              <a:rPr lang="fr-FR" smtClean="0"/>
              <a:t>07/01/2026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D1648E8-625C-031A-B7FF-0ACA9D3B5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08D8E32-6164-40D2-1AF2-F9ACA295B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4ED0A-E8EC-4F98-9107-F7C20FEACFB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6561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1B0FD3-2801-22F2-3A13-B32099230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DD1510-887A-BB5D-94C3-1C85D66F0D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6787438-D6E5-5D83-2983-9763C12A0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BDBD5-DDF5-4A9F-B639-A0E449BBD6C2}" type="datetimeFigureOut">
              <a:rPr lang="fr-FR" smtClean="0"/>
              <a:t>07/01/2026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49025A6-DF5D-0947-C93C-B7E550763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DE5A335-3920-4F99-CFE7-F0FF8BA6B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4ED0A-E8EC-4F98-9107-F7C20FEACFB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6267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BB45D4-F990-5BBE-C964-61EF21D86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A99C1DB-DC7C-E746-5F1E-EAF6B877B3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DF5486A-DA42-BC72-DE6C-2630716BA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BDBD5-DDF5-4A9F-B639-A0E449BBD6C2}" type="datetimeFigureOut">
              <a:rPr lang="fr-FR" smtClean="0"/>
              <a:t>07/01/2026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2019552-4C9B-4422-33E1-344095419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20F0DC9-6B3D-95FB-257F-2C8BA6558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4ED0A-E8EC-4F98-9107-F7C20FEACFB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9652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785FE5-4878-8FF4-E9CC-1909E5C64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B7EA8EA-E5DB-BE48-351B-714B4E3F17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D35A56A-6E16-DD50-0573-95B7821929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DD0CCC0-6EAA-3FF5-5CFC-B7991B33E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BDBD5-DDF5-4A9F-B639-A0E449BBD6C2}" type="datetimeFigureOut">
              <a:rPr lang="fr-FR" smtClean="0"/>
              <a:t>07/01/2026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169864-C5A0-E986-DE6D-87C58AE27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07C2E87-01FF-0BBB-3FD5-D9E89821A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4ED0A-E8EC-4F98-9107-F7C20FEACFB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9962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89EAEC-4AB4-6710-D566-784B55871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23D7349-2436-C3D5-C569-4707A418E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440A0F7-F0DB-E394-4823-CF545C7B5D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FC3919D-A85B-4036-9D6A-ACB49E2F41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FA7B91F-23D0-0D8F-8ECE-072935CD72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568D0A7-3468-E781-6F56-6DBDD8D8E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BDBD5-DDF5-4A9F-B639-A0E449BBD6C2}" type="datetimeFigureOut">
              <a:rPr lang="fr-FR" smtClean="0"/>
              <a:t>07/01/2026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910E830-2412-30D7-F61B-FA40F5E24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1F210A0-912F-D3F2-BA2C-BC73704CE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4ED0A-E8EC-4F98-9107-F7C20FEACFB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5791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0B5FA8-038C-2130-7235-4C11660D1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89FDBA1-DE59-1A94-C826-55C9695ED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BDBD5-DDF5-4A9F-B639-A0E449BBD6C2}" type="datetimeFigureOut">
              <a:rPr lang="fr-FR" smtClean="0"/>
              <a:t>07/01/2026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C1B0044-1449-224D-2F55-B200E4FD3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7880B5F-4697-F8C2-B95A-F3A890BC5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4ED0A-E8EC-4F98-9107-F7C20FEACFB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1716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76038AA-BC22-4B5E-10FA-7B8BE6CDD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BDBD5-DDF5-4A9F-B639-A0E449BBD6C2}" type="datetimeFigureOut">
              <a:rPr lang="fr-FR" smtClean="0"/>
              <a:t>07/01/2026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DB99FB2-6A02-6770-286B-8C07B5163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BDA7FCA-76C9-3B09-2FF2-7F18FB12E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4ED0A-E8EC-4F98-9107-F7C20FEACFB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0783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1EB89E-5FA3-0B87-5712-7E8B47F6D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5C236B4-BB7C-0CB6-FBA8-DB109EECA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E378942-0253-8F96-60C0-E890CE0EE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AC08A35-DB97-2D8E-7129-B4A491C5F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BDBD5-DDF5-4A9F-B639-A0E449BBD6C2}" type="datetimeFigureOut">
              <a:rPr lang="fr-FR" smtClean="0"/>
              <a:t>07/01/2026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2393F06-DF01-FCDD-BAB6-12C69CE98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2896750-FAD6-AC46-4338-1A0FF3436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4ED0A-E8EC-4F98-9107-F7C20FEACFB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5363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D2C4D4-A1D1-30AE-9CCC-4C8B5D782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34F009D-6B82-9032-55C7-5556213D57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50056B3-43D2-E257-F9C3-F40D67210A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B4AE943-F988-CDBE-7F16-327005F15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BDBD5-DDF5-4A9F-B639-A0E449BBD6C2}" type="datetimeFigureOut">
              <a:rPr lang="fr-FR" smtClean="0"/>
              <a:t>07/01/2026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6D56C10-272E-7A1C-F939-7B9B147CF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0C4078F-7385-D65C-6999-76E6D7B7D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4ED0A-E8EC-4F98-9107-F7C20FEACFB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8325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FDCF9D-86C8-2D5C-A6C3-4C7FC3A4B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9BE74DF-D4B5-4EA9-142B-FFC1916AF8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05A54D3-8D8A-5A8D-03D5-083E08A7D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BDBD5-DDF5-4A9F-B639-A0E449BBD6C2}" type="datetimeFigureOut">
              <a:rPr lang="fr-FR" smtClean="0"/>
              <a:t>07/01/2026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899BCC9-7C3F-7844-F9E2-6768D5C0F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369564B-1249-CE46-8C57-A62583642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4ED0A-E8EC-4F98-9107-F7C20FEACFB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6518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FF31D13-C6D7-E5C4-99AF-99F78221E6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1FC8DD8-1B5F-321D-5E49-B8A5DAE84E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5C5DF6-34B0-AA6C-3EB9-EA95F67E0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BDBD5-DDF5-4A9F-B639-A0E449BBD6C2}" type="datetimeFigureOut">
              <a:rPr lang="fr-FR" smtClean="0"/>
              <a:t>07/01/2026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0171B22-FBA0-5BC9-DAA1-71569A25E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2D9111-3852-2EED-B19A-80DEA059C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4ED0A-E8EC-4F98-9107-F7C20FEACFB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7270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9E58377-A46B-1E1F-F85C-B5B3CA507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8C394DD-4B6B-7D3E-81FA-BCCB720CD8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A03553E-58AA-D5A3-CB27-AC0CE600CD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BDBD5-DDF5-4A9F-B639-A0E449BBD6C2}" type="datetimeFigureOut">
              <a:rPr lang="fr-FR" smtClean="0"/>
              <a:t>07/01/2026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5CBF4DC-2FFB-59B2-FE5F-9571CC295F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C48A889-D8D9-3A0B-3B3D-67F4B50A6F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D4ED0A-E8EC-4F98-9107-F7C20FEACFB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5585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D6B3BB-7674-AABD-2148-D0F9A17CD3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48195" y="274464"/>
            <a:ext cx="7985761" cy="980757"/>
          </a:xfrm>
        </p:spPr>
        <p:txBody>
          <a:bodyPr>
            <a:normAutofit/>
          </a:bodyPr>
          <a:lstStyle/>
          <a:p>
            <a:r>
              <a:rPr lang="fr-FR" dirty="0"/>
              <a:t>le RGPD ses notions clés?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8250778-9A0D-941B-3745-9507EF0B84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5140" y="2601118"/>
            <a:ext cx="7830591" cy="3026597"/>
          </a:xfrm>
        </p:spPr>
        <p:txBody>
          <a:bodyPr>
            <a:normAutofit fontScale="25000" lnSpcReduction="20000"/>
          </a:bodyPr>
          <a:lstStyle/>
          <a:p>
            <a:r>
              <a:rPr lang="fr-FR" sz="8000" dirty="0"/>
              <a:t>Sommaire:  </a:t>
            </a:r>
          </a:p>
          <a:p>
            <a:r>
              <a:rPr lang="fr-FR" sz="8000" dirty="0"/>
              <a:t>-Qu’est-ce que le RGPD ?</a:t>
            </a:r>
          </a:p>
          <a:p>
            <a:r>
              <a:rPr lang="fr-FR" sz="8000" dirty="0"/>
              <a:t>-Donnée personnelle</a:t>
            </a:r>
          </a:p>
          <a:p>
            <a:r>
              <a:rPr lang="fr-FR" sz="8000" dirty="0"/>
              <a:t>-Traitement des données</a:t>
            </a:r>
          </a:p>
          <a:p>
            <a:r>
              <a:rPr lang="fr-FR" sz="8000" dirty="0"/>
              <a:t>-Les principes fondamentaux du RGPD</a:t>
            </a:r>
          </a:p>
          <a:p>
            <a:r>
              <a:rPr lang="fr-FR" sz="8000" dirty="0"/>
              <a:t>-Les droits des personnes </a:t>
            </a:r>
          </a:p>
          <a:p>
            <a:r>
              <a:rPr lang="fr-FR" sz="8000" dirty="0"/>
              <a:t>-Le consentement</a:t>
            </a:r>
          </a:p>
          <a:p>
            <a:r>
              <a:rPr lang="fr-FR" sz="8000" dirty="0"/>
              <a:t>-La CNIL</a:t>
            </a:r>
          </a:p>
          <a:p>
            <a:r>
              <a:rPr lang="fr-FR" sz="8000" dirty="0"/>
              <a:t>-Conclusion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84140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C01CA9-CAC3-9C3D-4976-6B3AF8B12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266" y="473191"/>
            <a:ext cx="10515600" cy="865159"/>
          </a:xfrm>
        </p:spPr>
        <p:txBody>
          <a:bodyPr/>
          <a:lstStyle/>
          <a:p>
            <a:r>
              <a:rPr lang="fr-FR" dirty="0"/>
              <a:t>Qu’est-ce que le RGPD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FAA9949-4216-68A5-8073-A1FB59C21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</a:t>
            </a:r>
            <a:r>
              <a:rPr lang="fr-FR" b="1" dirty="0"/>
              <a:t>RGPD (Règlement Général sur la Protection des Données)</a:t>
            </a:r>
            <a:r>
              <a:rPr lang="fr-FR" dirty="0"/>
              <a:t> est un règlement européen entré en </a:t>
            </a:r>
            <a:r>
              <a:rPr lang="fr-FR" dirty="0" err="1"/>
              <a:t>vigeur</a:t>
            </a:r>
            <a:r>
              <a:rPr lang="fr-FR" dirty="0"/>
              <a:t> le </a:t>
            </a:r>
            <a:r>
              <a:rPr lang="fr-FR" b="1" dirty="0"/>
              <a:t>25 mai 2018</a:t>
            </a:r>
            <a:r>
              <a:rPr lang="fr-FR" dirty="0"/>
              <a:t>.</a:t>
            </a:r>
            <a:br>
              <a:rPr lang="fr-FR" dirty="0"/>
            </a:br>
            <a:r>
              <a:rPr lang="fr-FR" dirty="0"/>
              <a:t>Son objectif est de </a:t>
            </a:r>
            <a:r>
              <a:rPr lang="fr-FR" b="1" dirty="0"/>
              <a:t>protéger les données personnelles des citoyens</a:t>
            </a:r>
            <a:r>
              <a:rPr lang="fr-FR" dirty="0"/>
              <a:t> et d’</a:t>
            </a:r>
            <a:r>
              <a:rPr lang="fr-FR" b="1" dirty="0"/>
              <a:t>harmoniser les règles</a:t>
            </a:r>
            <a:r>
              <a:rPr lang="fr-FR" dirty="0"/>
              <a:t> dans toute l’Union européenne.</a:t>
            </a:r>
          </a:p>
          <a:p>
            <a:r>
              <a:rPr lang="fr-FR" dirty="0"/>
              <a:t>Il s’applique à </a:t>
            </a:r>
            <a:r>
              <a:rPr lang="fr-FR" b="1" dirty="0"/>
              <a:t>toute organisation</a:t>
            </a:r>
            <a:r>
              <a:rPr lang="fr-FR" dirty="0"/>
              <a:t> (entreprise, administration, association) qui traite des </a:t>
            </a:r>
            <a:r>
              <a:rPr lang="fr-FR" b="1" dirty="0"/>
              <a:t>données personnelles</a:t>
            </a:r>
            <a:r>
              <a:rPr lang="fr-FR" dirty="0"/>
              <a:t> de résidents européens.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85029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02DC97-C6DE-BBED-00CE-D6B289CC4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3842"/>
          </a:xfrm>
        </p:spPr>
        <p:txBody>
          <a:bodyPr/>
          <a:lstStyle/>
          <a:p>
            <a:r>
              <a:rPr lang="fr-FR" dirty="0"/>
              <a:t>Donnée personnelle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AE70DBB-FF8E-DD2C-C489-C8B9525E8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10000"/>
          </a:bodyPr>
          <a:lstStyle/>
          <a:p>
            <a:r>
              <a:rPr lang="fr-FR" dirty="0"/>
              <a:t>Une </a:t>
            </a:r>
            <a:r>
              <a:rPr lang="fr-FR" b="1" dirty="0"/>
              <a:t>donnée personnelle</a:t>
            </a:r>
            <a:r>
              <a:rPr lang="fr-FR" dirty="0"/>
              <a:t> est toute information permettant d’identifier une personne </a:t>
            </a:r>
            <a:r>
              <a:rPr lang="fr-FR" b="1" dirty="0"/>
              <a:t>directement ou indirectement</a:t>
            </a:r>
            <a:r>
              <a:rPr lang="fr-FR" dirty="0"/>
              <a:t>.</a:t>
            </a:r>
          </a:p>
          <a:p>
            <a:r>
              <a:rPr lang="fr-FR" b="1" dirty="0"/>
              <a:t>Exemples :</a:t>
            </a:r>
          </a:p>
          <a:p>
            <a:r>
              <a:rPr lang="fr-FR" dirty="0"/>
              <a:t>Nom, prénom</a:t>
            </a:r>
          </a:p>
          <a:p>
            <a:r>
              <a:rPr lang="fr-FR" dirty="0"/>
              <a:t>Adresse email</a:t>
            </a:r>
          </a:p>
          <a:p>
            <a:r>
              <a:rPr lang="fr-FR" dirty="0"/>
              <a:t>Numéro de téléphone</a:t>
            </a:r>
          </a:p>
          <a:p>
            <a:r>
              <a:rPr lang="fr-FR" dirty="0"/>
              <a:t>Adresse IP</a:t>
            </a:r>
          </a:p>
          <a:p>
            <a:r>
              <a:rPr lang="fr-FR" dirty="0"/>
              <a:t>Photo</a:t>
            </a:r>
          </a:p>
          <a:p>
            <a:r>
              <a:rPr lang="fr-FR" dirty="0"/>
              <a:t>Données de localisation</a:t>
            </a:r>
          </a:p>
          <a:p>
            <a:r>
              <a:rPr lang="fr-FR" dirty="0"/>
              <a:t>Identifiant de connexion</a:t>
            </a:r>
          </a:p>
        </p:txBody>
      </p:sp>
    </p:spTree>
    <p:extLst>
      <p:ext uri="{BB962C8B-B14F-4D97-AF65-F5344CB8AC3E}">
        <p14:creationId xmlns:p14="http://schemas.microsoft.com/office/powerpoint/2010/main" val="3746858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C701CC-CFBA-3077-17E9-5914FA433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681643"/>
          </a:xfrm>
        </p:spPr>
        <p:txBody>
          <a:bodyPr>
            <a:normAutofit fontScale="90000"/>
          </a:bodyPr>
          <a:lstStyle/>
          <a:p>
            <a:r>
              <a:rPr lang="fr-FR" b="1" dirty="0"/>
              <a:t>Traitement des données</a:t>
            </a:r>
            <a:br>
              <a:rPr lang="fr-FR" b="1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4A741F-E34D-5E4F-1115-F8956A43E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Un </a:t>
            </a:r>
            <a:r>
              <a:rPr lang="fr-FR" b="1" dirty="0"/>
              <a:t>traitement</a:t>
            </a:r>
            <a:r>
              <a:rPr lang="fr-FR" dirty="0"/>
              <a:t> est toute action effectuée sur des données personnelles.</a:t>
            </a:r>
          </a:p>
          <a:p>
            <a:pPr marL="0" indent="0">
              <a:buNone/>
            </a:pPr>
            <a:r>
              <a:rPr lang="fr-FR" b="1" dirty="0"/>
              <a:t>Exemples de traitements :</a:t>
            </a:r>
          </a:p>
          <a:p>
            <a:r>
              <a:rPr lang="fr-FR" dirty="0"/>
              <a:t>Collecter</a:t>
            </a:r>
          </a:p>
          <a:p>
            <a:r>
              <a:rPr lang="fr-FR" dirty="0"/>
              <a:t>Stocker</a:t>
            </a:r>
          </a:p>
          <a:p>
            <a:r>
              <a:rPr lang="fr-FR" dirty="0"/>
              <a:t>Modifier</a:t>
            </a:r>
          </a:p>
          <a:p>
            <a:r>
              <a:rPr lang="fr-FR" dirty="0"/>
              <a:t>Consulter</a:t>
            </a:r>
          </a:p>
          <a:p>
            <a:r>
              <a:rPr lang="fr-FR" dirty="0"/>
              <a:t>Supprimer</a:t>
            </a:r>
          </a:p>
          <a:p>
            <a:r>
              <a:rPr lang="fr-FR" dirty="0"/>
              <a:t>Transmettre</a:t>
            </a:r>
          </a:p>
          <a:p>
            <a:pPr marL="0" indent="0">
              <a:buNone/>
            </a:pPr>
            <a:r>
              <a:rPr lang="fr-FR" dirty="0"/>
              <a:t>Même </a:t>
            </a:r>
            <a:r>
              <a:rPr lang="fr-FR" b="1" dirty="0"/>
              <a:t>consulter un fichier client</a:t>
            </a:r>
            <a:r>
              <a:rPr lang="fr-FR" dirty="0"/>
              <a:t> est un traitement.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48057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CA99DE-120C-6A17-6F90-181479513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89850"/>
          </a:xfrm>
        </p:spPr>
        <p:txBody>
          <a:bodyPr/>
          <a:lstStyle/>
          <a:p>
            <a:r>
              <a:rPr lang="fr-FR" dirty="0"/>
              <a:t>Les principes fondamentaux du RGPD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C48656-349B-43B8-4277-0AB09CE9C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FR" dirty="0"/>
              <a:t>Le RGPD repose sur </a:t>
            </a:r>
            <a:r>
              <a:rPr lang="fr-FR" b="1" dirty="0"/>
              <a:t>6 grands principes</a:t>
            </a:r>
            <a:r>
              <a:rPr lang="fr-FR" dirty="0"/>
              <a:t> :</a:t>
            </a:r>
          </a:p>
          <a:p>
            <a:r>
              <a:rPr lang="fr-FR" b="1" dirty="0"/>
              <a:t>Transparence</a:t>
            </a:r>
            <a:br>
              <a:rPr lang="fr-FR" dirty="0"/>
            </a:br>
            <a:r>
              <a:rPr lang="fr-FR" dirty="0"/>
              <a:t>→ Les personnes doivent savoir pourquoi leurs données sont utilisées.</a:t>
            </a:r>
          </a:p>
          <a:p>
            <a:r>
              <a:rPr lang="fr-FR" b="1" dirty="0"/>
              <a:t>Finalité déterminée</a:t>
            </a:r>
            <a:br>
              <a:rPr lang="fr-FR" dirty="0"/>
            </a:br>
            <a:r>
              <a:rPr lang="fr-FR" dirty="0"/>
              <a:t>→ Les données ne peuvent être utilisées que pour un objectif précis.</a:t>
            </a:r>
          </a:p>
          <a:p>
            <a:r>
              <a:rPr lang="fr-FR" b="1" dirty="0"/>
              <a:t>Minimisation des données</a:t>
            </a:r>
            <a:br>
              <a:rPr lang="fr-FR" dirty="0"/>
            </a:br>
            <a:r>
              <a:rPr lang="fr-FR" dirty="0"/>
              <a:t>→ On ne collecte que les données strictement nécessaires.</a:t>
            </a:r>
          </a:p>
          <a:p>
            <a:r>
              <a:rPr lang="fr-FR" b="1" dirty="0"/>
              <a:t>Exactitude</a:t>
            </a:r>
            <a:br>
              <a:rPr lang="fr-FR" dirty="0"/>
            </a:br>
            <a:r>
              <a:rPr lang="fr-FR" dirty="0"/>
              <a:t>→ Les données doivent être à jour.</a:t>
            </a:r>
          </a:p>
          <a:p>
            <a:r>
              <a:rPr lang="fr-FR" b="1" dirty="0"/>
              <a:t>Limitation de la conservation</a:t>
            </a:r>
            <a:br>
              <a:rPr lang="fr-FR" dirty="0"/>
            </a:br>
            <a:r>
              <a:rPr lang="fr-FR" dirty="0"/>
              <a:t>→ Les données ne sont pas conservées indéfiniment.</a:t>
            </a:r>
          </a:p>
          <a:p>
            <a:r>
              <a:rPr lang="fr-FR" b="1" dirty="0"/>
              <a:t>Sécurité et confidentialité</a:t>
            </a:r>
            <a:br>
              <a:rPr lang="fr-FR" dirty="0"/>
            </a:br>
            <a:r>
              <a:rPr lang="fr-FR" dirty="0"/>
              <a:t>→ Protection contre le piratage, les pertes, les accès non autorisés.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3736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189AA7-E36A-FD12-DED1-BCD776771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47544"/>
          </a:xfrm>
        </p:spPr>
        <p:txBody>
          <a:bodyPr/>
          <a:lstStyle/>
          <a:p>
            <a:r>
              <a:rPr lang="fr-FR" dirty="0"/>
              <a:t>Les droits des personnes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37A998-0598-159C-B524-CD03AEF99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Le RGPD renforce les </a:t>
            </a:r>
            <a:r>
              <a:rPr lang="fr-FR" b="1" dirty="0"/>
              <a:t>droits des citoyens</a:t>
            </a:r>
            <a:r>
              <a:rPr lang="fr-FR" dirty="0"/>
              <a:t> sur leurs données :</a:t>
            </a:r>
          </a:p>
          <a:p>
            <a:r>
              <a:rPr lang="fr-FR" dirty="0"/>
              <a:t>Droit d’accès</a:t>
            </a:r>
          </a:p>
          <a:p>
            <a:r>
              <a:rPr lang="fr-FR" dirty="0"/>
              <a:t>Droit de rectification</a:t>
            </a:r>
          </a:p>
          <a:p>
            <a:r>
              <a:rPr lang="fr-FR" dirty="0"/>
              <a:t>Droit à l’effacement (« droit à l’oubli »)</a:t>
            </a:r>
          </a:p>
          <a:p>
            <a:r>
              <a:rPr lang="fr-FR" dirty="0"/>
              <a:t>Droit d’opposition</a:t>
            </a:r>
          </a:p>
          <a:p>
            <a:r>
              <a:rPr lang="fr-FR" dirty="0"/>
              <a:t>Droit à la portabilité des données</a:t>
            </a:r>
          </a:p>
          <a:p>
            <a:r>
              <a:rPr lang="fr-FR" dirty="0"/>
              <a:t>Droit à la limitation du traitement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96178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8D4FB0-93E5-4548-3833-E4C4C65F5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6475"/>
          </a:xfrm>
        </p:spPr>
        <p:txBody>
          <a:bodyPr/>
          <a:lstStyle/>
          <a:p>
            <a:r>
              <a:rPr lang="fr-FR" dirty="0"/>
              <a:t>Le consentement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7AE294-8C6D-8ADA-280B-ED0F8EA673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1353"/>
            <a:ext cx="10515600" cy="4705610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Le consentement doit être :</a:t>
            </a:r>
          </a:p>
          <a:p>
            <a:r>
              <a:rPr lang="fr-FR" b="1" dirty="0"/>
              <a:t>Libre</a:t>
            </a:r>
            <a:endParaRPr lang="fr-FR" dirty="0"/>
          </a:p>
          <a:p>
            <a:r>
              <a:rPr lang="fr-FR" b="1" dirty="0"/>
              <a:t>Spécifique</a:t>
            </a:r>
            <a:endParaRPr lang="fr-FR" dirty="0"/>
          </a:p>
          <a:p>
            <a:r>
              <a:rPr lang="fr-FR" b="1" dirty="0"/>
              <a:t>Éclairé</a:t>
            </a:r>
            <a:endParaRPr lang="fr-FR" dirty="0"/>
          </a:p>
          <a:p>
            <a:r>
              <a:rPr lang="fr-FR" b="1" dirty="0"/>
              <a:t>Univoque</a:t>
            </a:r>
            <a:endParaRPr lang="fr-FR" dirty="0"/>
          </a:p>
          <a:p>
            <a:r>
              <a:rPr lang="fr-FR" dirty="0"/>
              <a:t> Les cases pré-cochées sont interdites</a:t>
            </a:r>
          </a:p>
          <a:p>
            <a:r>
              <a:rPr lang="fr-FR" dirty="0"/>
              <a:t> L’utilisateur doit pouvoir retirer son consentement facilement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29590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0B9ECE-183A-5679-9518-06E0BF6EC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CNIL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687F0FA-0B5A-7FF8-BFEE-048DA8D7F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fr-FR" dirty="0"/>
              <a:t>En France, le RGPD est contrôlé par la </a:t>
            </a:r>
            <a:r>
              <a:rPr lang="fr-FR" b="1" dirty="0"/>
              <a:t>CNIL (Commission Nationale de l’Informatique et des Libertés)</a:t>
            </a:r>
            <a:r>
              <a:rPr lang="fr-FR" dirty="0"/>
              <a:t>.</a:t>
            </a:r>
          </a:p>
          <a:p>
            <a:pPr>
              <a:buNone/>
            </a:pPr>
            <a:r>
              <a:rPr lang="fr-FR" b="1" dirty="0"/>
              <a:t>Rôle de la CNIL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Informer et conseiller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Contrôler les organisations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Sanctionner en cas de non-respect</a:t>
            </a:r>
          </a:p>
          <a:p>
            <a:pPr marL="0" indent="0">
              <a:buNone/>
            </a:pPr>
            <a:r>
              <a:rPr lang="fr-FR" dirty="0"/>
              <a:t>Les sanctions peuvent aller jusqu’à </a:t>
            </a:r>
            <a:r>
              <a:rPr lang="fr-FR" b="1" dirty="0"/>
              <a:t>20 millions d’euros ou 4 % du chiffre d’affaires mondial</a:t>
            </a:r>
            <a:r>
              <a:rPr lang="fr-FR" dirty="0"/>
              <a:t>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89104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EF3EE2-686C-2032-4617-5A016648E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3415" y="298623"/>
            <a:ext cx="2985655" cy="1325563"/>
          </a:xfrm>
        </p:spPr>
        <p:txBody>
          <a:bodyPr/>
          <a:lstStyle/>
          <a:p>
            <a:r>
              <a:rPr lang="fr-FR" dirty="0"/>
              <a:t>Conclusion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C98C08-905E-4B1A-1BAB-E7EB61E86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Le RGPD est devenu un </a:t>
            </a:r>
            <a:r>
              <a:rPr lang="fr-FR" b="1" dirty="0"/>
              <a:t>enjeu majeur du numérique</a:t>
            </a:r>
            <a:r>
              <a:rPr lang="fr-FR" dirty="0"/>
              <a:t>.</a:t>
            </a:r>
            <a:br>
              <a:rPr lang="fr-FR" dirty="0"/>
            </a:br>
            <a:r>
              <a:rPr lang="fr-FR" dirty="0"/>
              <a:t>Il oblige les organisations à être </a:t>
            </a:r>
            <a:r>
              <a:rPr lang="fr-FR" b="1" dirty="0"/>
              <a:t>responsables</a:t>
            </a:r>
            <a:r>
              <a:rPr lang="fr-FR" dirty="0"/>
              <a:t>, </a:t>
            </a:r>
            <a:r>
              <a:rPr lang="fr-FR" b="1" dirty="0"/>
              <a:t>transparentes</a:t>
            </a:r>
            <a:r>
              <a:rPr lang="fr-FR" dirty="0"/>
              <a:t> et </a:t>
            </a:r>
            <a:r>
              <a:rPr lang="fr-FR" b="1" dirty="0"/>
              <a:t>sécurisées</a:t>
            </a:r>
            <a:r>
              <a:rPr lang="fr-FR" dirty="0"/>
              <a:t> dans leur gestion des données, tout en donnant plus de pouvoir aux utilisateurs.</a:t>
            </a:r>
          </a:p>
          <a:p>
            <a:pPr marL="0" indent="0">
              <a:buNone/>
            </a:pPr>
            <a:r>
              <a:rPr lang="fr-FR" dirty="0"/>
              <a:t>Il est donc impératif de faire une veille dessus.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7943146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444</Words>
  <Application>Microsoft Office PowerPoint</Application>
  <PresentationFormat>Grand écran</PresentationFormat>
  <Paragraphs>67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Thème Office</vt:lpstr>
      <vt:lpstr>le RGPD ses notions clés?</vt:lpstr>
      <vt:lpstr>Qu’est-ce que le RGPD ?</vt:lpstr>
      <vt:lpstr>Donnée personnelle</vt:lpstr>
      <vt:lpstr>Traitement des données </vt:lpstr>
      <vt:lpstr>Les principes fondamentaux du RGPD</vt:lpstr>
      <vt:lpstr>Les droits des personnes</vt:lpstr>
      <vt:lpstr>Le consentement</vt:lpstr>
      <vt:lpstr>La CNIL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Awerd 64</dc:creator>
  <cp:lastModifiedBy>Awerd 64</cp:lastModifiedBy>
  <cp:revision>1</cp:revision>
  <dcterms:created xsi:type="dcterms:W3CDTF">2026-01-07T13:53:14Z</dcterms:created>
  <dcterms:modified xsi:type="dcterms:W3CDTF">2026-01-07T13:53:20Z</dcterms:modified>
</cp:coreProperties>
</file>