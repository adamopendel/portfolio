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3" r:id="rId8"/>
    <p:sldId id="265" r:id="rId9"/>
    <p:sldId id="273" r:id="rId10"/>
    <p:sldId id="274" r:id="rId11"/>
    <p:sldId id="267" r:id="rId12"/>
    <p:sldId id="268" r:id="rId13"/>
    <p:sldId id="269" r:id="rId14"/>
    <p:sldId id="275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ExtraBold" panose="00000900000000000000" pitchFamily="2" charset="0"/>
      <p:bold r:id="rId23"/>
      <p:boldItalic r:id="rId24"/>
    </p:embeddedFont>
    <p:embeddedFont>
      <p:font typeface="Poppins Medium" panose="000006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cours de professionnalisation" id="{7AEA7B6B-E637-4274-8AAE-18BE870F989F}">
          <p14:sldIdLst>
            <p14:sldId id="256"/>
            <p14:sldId id="257"/>
            <p14:sldId id="258"/>
            <p14:sldId id="259"/>
            <p14:sldId id="260"/>
            <p14:sldId id="263"/>
            <p14:sldId id="265"/>
            <p14:sldId id="273"/>
            <p14:sldId id="274"/>
            <p14:sldId id="267"/>
            <p14:sldId id="268"/>
            <p14:sldId id="269"/>
            <p14:sldId id="275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C0FF"/>
    <a:srgbClr val="A70E77"/>
    <a:srgbClr val="481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BCB00-31EB-CE50-27CE-7273331DFAE0}" v="1459" dt="2026-04-16T15:02:01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22" autoAdjust="0"/>
  </p:normalViewPr>
  <p:slideViewPr>
    <p:cSldViewPr>
      <p:cViewPr varScale="1">
        <p:scale>
          <a:sx n="68" d="100"/>
          <a:sy n="68" d="100"/>
        </p:scale>
        <p:origin x="278" y="9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uc-powerpoint.officeapps.live.com/pods/ppt.aspx?ui=fr&amp;rs=fr-FR&amp;wdorigin=SEARCHENGINE.BING,APPHOME-WEB.BANNER.UPLOAD&amp;wdprevioussession=27fff82b-065a-4b3a-8c76-f564e49aa79a&amp;wdprevioussessionsrc=AppHomeWeb&amp;wdenableroaming=1&amp;mscc=1&amp;wdodb=1&amp;hid=42880AA2-A03E-0001-CAE9-73EC38D5C0D4.0&amp;uih=sharepointcom&amp;wdlcid=fr&amp;jsapi=1&amp;jsapiver=v2&amp;corrid=aadbcb00-31eb-ce50-27ce-7273331dfae0&amp;usid=aadbcb00-31eb-ce50-27ce-7273331dfae0&amp;newsession=1&amp;sftc=1&amp;uihit=docaspx&amp;muv=1&amp;ats=PairwiseBroker&amp;dchat=1&amp;sc=%7B%22pmo%22%3A%22https%3A%2F%2Fcerfal-my.sharepoint.com%22%2C%22pmshare%22%3Atrue%7D&amp;wdhostclicktime=1776343790764&amp;afdflight=22&amp;wdpodsurl=https%3A%2F%2Feuc-powerpoint.officeapps.live.com%2Fpods%2F&amp;wdpopsurl=https%3A%2F%2Feuc-powerpoint.officeapps.live.com%2F&amp;wdoverrides=devicepixelratio:1.25,RenderGifSlideShow:true&amp;wdwaccluster=GEU5&amp;waccluster=GEU5&amp;filename=Parcours%20de%20professionnalisation%20E5%201.pptx&amp;filegeturlbool=true&amp;fs=14016254&amp;ro=false&amp;fastboot=true&amp;noauth=1&amp;thpanel=629&amp;sw=1252&amp;sh=576&amp;postmessagetoken=aadbcb00-31eb-ce50-27ce-7273331dfae0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4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002725">
            <a:off x="2044579" y="3775992"/>
            <a:ext cx="21708216" cy="9775951"/>
          </a:xfrm>
          <a:prstGeom prst="rect">
            <a:avLst/>
          </a:prstGeom>
          <a:solidFill>
            <a:srgbClr val="D9C0FF"/>
          </a:solid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/>
          <p:cNvGrpSpPr/>
          <p:nvPr/>
        </p:nvGrpSpPr>
        <p:grpSpPr>
          <a:xfrm>
            <a:off x="1143000" y="1727026"/>
            <a:ext cx="17907000" cy="7852034"/>
            <a:chOff x="755947" y="-592899"/>
            <a:chExt cx="19951643" cy="10469380"/>
          </a:xfrm>
        </p:grpSpPr>
        <p:sp>
          <p:nvSpPr>
            <p:cNvPr id="4" name="TextBox 4"/>
            <p:cNvSpPr txBox="1"/>
            <p:nvPr/>
          </p:nvSpPr>
          <p:spPr>
            <a:xfrm>
              <a:off x="755947" y="-592899"/>
              <a:ext cx="19951643" cy="8207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999"/>
                </a:lnSpc>
              </a:pPr>
              <a:r>
                <a:rPr lang="en-US" sz="9600" spc="93" dirty="0">
                  <a:solidFill>
                    <a:srgbClr val="3D05AD"/>
                  </a:solidFill>
                  <a:latin typeface="Poppins ExtraBold" panose="00000900000000000000" pitchFamily="2" charset="0"/>
                  <a:cs typeface="Poppins ExtraBold" panose="00000900000000000000" pitchFamily="2" charset="0"/>
                </a:rPr>
                <a:t>Epreuve E5</a:t>
              </a:r>
            </a:p>
            <a:p>
              <a:pPr algn="ctr">
                <a:lnSpc>
                  <a:spcPts val="15999"/>
                </a:lnSpc>
              </a:pPr>
              <a:r>
                <a:rPr lang="en-US" sz="13500" dirty="0" err="1">
                  <a:solidFill>
                    <a:srgbClr val="3D05AD"/>
                  </a:solidFill>
                  <a:latin typeface="+mj-lt"/>
                  <a:cs typeface="Poppins" panose="00000500000000000000" pitchFamily="2" charset="0"/>
                </a:rPr>
                <a:t>Parcours</a:t>
              </a:r>
              <a:r>
                <a:rPr lang="en-US" sz="13500" dirty="0">
                  <a:solidFill>
                    <a:srgbClr val="3D05AD"/>
                  </a:solidFill>
                  <a:latin typeface="+mj-lt"/>
                  <a:cs typeface="Poppins" panose="00000500000000000000" pitchFamily="2" charset="0"/>
                </a:rPr>
                <a:t> de </a:t>
              </a:r>
              <a:r>
                <a:rPr lang="en-US" sz="13500" dirty="0" err="1">
                  <a:solidFill>
                    <a:srgbClr val="3D05AD"/>
                  </a:solidFill>
                  <a:latin typeface="+mj-lt"/>
                  <a:cs typeface="Poppins" panose="00000500000000000000" pitchFamily="2" charset="0"/>
                </a:rPr>
                <a:t>professionnalisation</a:t>
              </a:r>
              <a:endParaRPr lang="en-US" sz="13500" dirty="0">
                <a:solidFill>
                  <a:srgbClr val="3D05AD"/>
                </a:solidFill>
                <a:latin typeface="+mj-lt"/>
                <a:cs typeface="Poppins" panose="00000500000000000000" pitchFamily="2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52533" y="6152897"/>
              <a:ext cx="13035956" cy="3723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85"/>
                </a:lnSpc>
                <a:spcBef>
                  <a:spcPct val="0"/>
                </a:spcBef>
              </a:pPr>
              <a:endParaRPr lang="en-US" sz="3132" spc="93" dirty="0">
                <a:solidFill>
                  <a:srgbClr val="3D05AD"/>
                </a:solidFill>
                <a:latin typeface="Poppins ExtraBold" panose="00000900000000000000" pitchFamily="2" charset="0"/>
                <a:cs typeface="Poppins ExtraBold" panose="00000900000000000000" pitchFamily="2" charset="0"/>
              </a:endParaRPr>
            </a:p>
            <a:p>
              <a:pPr algn="ctr">
                <a:lnSpc>
                  <a:spcPts val="4385"/>
                </a:lnSpc>
                <a:spcBef>
                  <a:spcPct val="0"/>
                </a:spcBef>
              </a:pPr>
              <a:endParaRPr lang="en-US" sz="3132" spc="93" dirty="0">
                <a:solidFill>
                  <a:srgbClr val="3D05AD"/>
                </a:solidFill>
                <a:latin typeface="Poppins ExtraBold" panose="00000900000000000000" pitchFamily="2" charset="0"/>
                <a:cs typeface="Poppins ExtraBold" panose="00000900000000000000" pitchFamily="2" charset="0"/>
              </a:endParaRPr>
            </a:p>
            <a:p>
              <a:pPr algn="ctr">
                <a:lnSpc>
                  <a:spcPts val="4385"/>
                </a:lnSpc>
                <a:spcBef>
                  <a:spcPct val="0"/>
                </a:spcBef>
              </a:pPr>
              <a:endParaRPr lang="en-US" sz="3132" spc="93" dirty="0">
                <a:solidFill>
                  <a:srgbClr val="3D05AD"/>
                </a:solidFill>
                <a:latin typeface="Poppins ExtraBold" panose="00000900000000000000" pitchFamily="2" charset="0"/>
                <a:cs typeface="Poppins ExtraBold" panose="00000900000000000000" pitchFamily="2" charset="0"/>
              </a:endParaRPr>
            </a:p>
            <a:p>
              <a:pPr algn="ctr">
                <a:lnSpc>
                  <a:spcPts val="4385"/>
                </a:lnSpc>
                <a:spcBef>
                  <a:spcPct val="0"/>
                </a:spcBef>
              </a:pPr>
              <a:endParaRPr lang="en-US" sz="3132" spc="93" dirty="0">
                <a:solidFill>
                  <a:srgbClr val="3D05AD"/>
                </a:solidFill>
                <a:latin typeface="Poppins ExtraBold" panose="00000900000000000000" pitchFamily="2" charset="0"/>
                <a:cs typeface="Poppins ExtraBold" panose="00000900000000000000" pitchFamily="2" charset="0"/>
              </a:endParaRPr>
            </a:p>
            <a:p>
              <a:pPr algn="ctr">
                <a:lnSpc>
                  <a:spcPts val="4385"/>
                </a:lnSpc>
                <a:spcBef>
                  <a:spcPct val="0"/>
                </a:spcBef>
              </a:pPr>
              <a:r>
                <a:rPr lang="en-US" sz="3100" spc="93" dirty="0">
                  <a:solidFill>
                    <a:srgbClr val="3D05AD"/>
                  </a:solidFill>
                  <a:latin typeface="Poppins ExtraBold"/>
                  <a:cs typeface="Poppins ExtraBold"/>
                </a:rPr>
                <a:t>REFFAD Adam- </a:t>
              </a:r>
              <a:r>
                <a:rPr lang="en-US" sz="3100" spc="93" dirty="0" err="1">
                  <a:solidFill>
                    <a:srgbClr val="3D05AD"/>
                  </a:solidFill>
                  <a:latin typeface="Poppins ExtraBold"/>
                  <a:cs typeface="Poppins ExtraBold"/>
                </a:rPr>
                <a:t>Bts</a:t>
              </a:r>
              <a:r>
                <a:rPr lang="en-US" sz="3100" spc="93" dirty="0">
                  <a:solidFill>
                    <a:srgbClr val="3D05AD"/>
                  </a:solidFill>
                  <a:latin typeface="Poppins ExtraBold"/>
                  <a:cs typeface="Poppins ExtraBold"/>
                </a:rPr>
                <a:t> </a:t>
              </a:r>
              <a:r>
                <a:rPr lang="en-US" sz="3100" spc="93" dirty="0" err="1">
                  <a:solidFill>
                    <a:srgbClr val="3D05AD"/>
                  </a:solidFill>
                  <a:latin typeface="Poppins ExtraBold"/>
                  <a:cs typeface="Poppins ExtraBold"/>
                </a:rPr>
                <a:t>Sio</a:t>
              </a:r>
              <a:r>
                <a:rPr lang="en-US" sz="3100" spc="93" dirty="0">
                  <a:solidFill>
                    <a:srgbClr val="3D05AD"/>
                  </a:solidFill>
                  <a:latin typeface="Poppins ExtraBold"/>
                  <a:cs typeface="Poppins ExtraBold"/>
                </a:rPr>
                <a:t> option </a:t>
              </a:r>
              <a:r>
                <a:rPr lang="en-US" sz="3100" spc="93" dirty="0" err="1">
                  <a:solidFill>
                    <a:srgbClr val="3D05AD"/>
                  </a:solidFill>
                  <a:latin typeface="Poppins ExtraBold"/>
                  <a:cs typeface="Poppins ExtraBold"/>
                </a:rPr>
                <a:t>Sisr</a:t>
              </a:r>
              <a:r>
                <a:rPr lang="en-US" sz="3100" spc="93" dirty="0">
                  <a:solidFill>
                    <a:srgbClr val="3D05AD"/>
                  </a:solidFill>
                  <a:latin typeface="Poppins ExtraBold"/>
                  <a:cs typeface="Poppins ExtraBold"/>
                </a:rPr>
                <a:t> - Session 2027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04800" y="0"/>
            <a:ext cx="5779993" cy="194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5959"/>
              </a:lnSpc>
              <a:spcBef>
                <a:spcPct val="0"/>
              </a:spcBef>
            </a:pPr>
            <a:r>
              <a:rPr lang="en-US" sz="11399" dirty="0">
                <a:solidFill>
                  <a:srgbClr val="4407BF"/>
                </a:solidFill>
                <a:latin typeface="+mj-lt"/>
                <a:cs typeface="Poppins" panose="00000500000000000000" pitchFamily="2" charset="0"/>
              </a:rPr>
              <a:t>PLAN</a:t>
            </a:r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B8976326-BF66-4755-ABB0-DF52879AA688}"/>
              </a:ext>
            </a:extLst>
          </p:cNvPr>
          <p:cNvGrpSpPr/>
          <p:nvPr/>
        </p:nvGrpSpPr>
        <p:grpSpPr>
          <a:xfrm>
            <a:off x="12475159" y="2562343"/>
            <a:ext cx="1291268" cy="1189106"/>
            <a:chOff x="10830201" y="4718869"/>
            <a:chExt cx="811137" cy="806303"/>
          </a:xfrm>
        </p:grpSpPr>
        <p:pic>
          <p:nvPicPr>
            <p:cNvPr id="26" name="Google Shape;323;p2" descr="Programmeur">
              <a:extLst>
                <a:ext uri="{FF2B5EF4-FFF2-40B4-BE49-F238E27FC236}">
                  <a16:creationId xmlns:a16="http://schemas.microsoft.com/office/drawing/2014/main" id="{D1815847-59C6-CD4B-9B49-ECA4B4F939C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  <a:biLevel thresh="75000"/>
            </a:blip>
            <a:srcRect/>
            <a:stretch/>
          </p:blipFill>
          <p:spPr>
            <a:xfrm>
              <a:off x="10867539" y="4743207"/>
              <a:ext cx="736630" cy="736630"/>
            </a:xfrm>
            <a:prstGeom prst="ellipse">
              <a:avLst/>
            </a:prstGeom>
            <a:solidFill>
              <a:schemeClr val="bg2"/>
            </a:solidFill>
            <a:ln w="381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>
              <a:softEdge rad="109091"/>
            </a:effectLst>
          </p:spPr>
        </p:pic>
        <p:sp>
          <p:nvSpPr>
            <p:cNvPr id="34" name="Google Shape;254;p44">
              <a:extLst>
                <a:ext uri="{FF2B5EF4-FFF2-40B4-BE49-F238E27FC236}">
                  <a16:creationId xmlns:a16="http://schemas.microsoft.com/office/drawing/2014/main" id="{0AEC816A-BB4D-0944-A251-2746BB0D4F44}"/>
                </a:ext>
              </a:extLst>
            </p:cNvPr>
            <p:cNvSpPr/>
            <p:nvPr/>
          </p:nvSpPr>
          <p:spPr>
            <a:xfrm>
              <a:off x="10830201" y="4718869"/>
              <a:ext cx="811137" cy="806303"/>
            </a:xfrm>
            <a:prstGeom prst="roundRect">
              <a:avLst>
                <a:gd name="adj" fmla="val 3338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472A324-E26D-4B1A-8A42-37FC4379F752}"/>
              </a:ext>
            </a:extLst>
          </p:cNvPr>
          <p:cNvGrpSpPr/>
          <p:nvPr/>
        </p:nvGrpSpPr>
        <p:grpSpPr>
          <a:xfrm>
            <a:off x="584239" y="2539486"/>
            <a:ext cx="1295400" cy="1175643"/>
            <a:chOff x="4773319" y="3503741"/>
            <a:chExt cx="811137" cy="819009"/>
          </a:xfrm>
        </p:grpSpPr>
        <p:pic>
          <p:nvPicPr>
            <p:cNvPr id="17" name="Google Shape;310;p2" descr="Profil féminin">
              <a:extLst>
                <a:ext uri="{FF2B5EF4-FFF2-40B4-BE49-F238E27FC236}">
                  <a16:creationId xmlns:a16="http://schemas.microsoft.com/office/drawing/2014/main" id="{A68102FB-B100-2848-B314-3F1E1D26650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alphaModFix/>
              <a:biLevel thresh="75000"/>
            </a:blip>
            <a:srcRect/>
            <a:stretch/>
          </p:blipFill>
          <p:spPr>
            <a:xfrm>
              <a:off x="4830963" y="3586120"/>
              <a:ext cx="736630" cy="736630"/>
            </a:xfrm>
            <a:prstGeom prst="ellipse">
              <a:avLst/>
            </a:prstGeom>
            <a:solidFill>
              <a:schemeClr val="bg2"/>
            </a:solidFill>
            <a:ln w="381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>
              <a:softEdge rad="109091"/>
            </a:effectLst>
          </p:spPr>
        </p:pic>
        <p:sp>
          <p:nvSpPr>
            <p:cNvPr id="37" name="Google Shape;254;p44">
              <a:extLst>
                <a:ext uri="{FF2B5EF4-FFF2-40B4-BE49-F238E27FC236}">
                  <a16:creationId xmlns:a16="http://schemas.microsoft.com/office/drawing/2014/main" id="{37182939-3EB6-9F4D-90DE-78671527A8A6}"/>
                </a:ext>
              </a:extLst>
            </p:cNvPr>
            <p:cNvSpPr/>
            <p:nvPr/>
          </p:nvSpPr>
          <p:spPr>
            <a:xfrm>
              <a:off x="4773319" y="3503741"/>
              <a:ext cx="811137" cy="806303"/>
            </a:xfrm>
            <a:prstGeom prst="roundRect">
              <a:avLst>
                <a:gd name="adj" fmla="val 3338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7C9F542-E3BE-405A-A828-A7375DFF6DBD}"/>
              </a:ext>
            </a:extLst>
          </p:cNvPr>
          <p:cNvGrpSpPr/>
          <p:nvPr/>
        </p:nvGrpSpPr>
        <p:grpSpPr>
          <a:xfrm>
            <a:off x="584239" y="5048133"/>
            <a:ext cx="1295400" cy="1157404"/>
            <a:chOff x="4795224" y="4718869"/>
            <a:chExt cx="811137" cy="806303"/>
          </a:xfrm>
        </p:grpSpPr>
        <p:pic>
          <p:nvPicPr>
            <p:cNvPr id="18" name="Google Shape;312;p2" descr="École">
              <a:extLst>
                <a:ext uri="{FF2B5EF4-FFF2-40B4-BE49-F238E27FC236}">
                  <a16:creationId xmlns:a16="http://schemas.microsoft.com/office/drawing/2014/main" id="{A2656B9D-88BF-A840-97B4-5BFB304BF32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>
              <a:alphaModFix/>
              <a:biLevel thresh="75000"/>
            </a:blip>
            <a:srcRect/>
            <a:stretch/>
          </p:blipFill>
          <p:spPr>
            <a:xfrm>
              <a:off x="4841159" y="4743207"/>
              <a:ext cx="736630" cy="736630"/>
            </a:xfrm>
            <a:prstGeom prst="ellipse">
              <a:avLst/>
            </a:prstGeom>
            <a:solidFill>
              <a:schemeClr val="bg2"/>
            </a:solidFill>
            <a:ln w="381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>
              <a:softEdge rad="109091"/>
            </a:effectLst>
          </p:spPr>
        </p:pic>
        <p:sp>
          <p:nvSpPr>
            <p:cNvPr id="38" name="Google Shape;254;p44">
              <a:extLst>
                <a:ext uri="{FF2B5EF4-FFF2-40B4-BE49-F238E27FC236}">
                  <a16:creationId xmlns:a16="http://schemas.microsoft.com/office/drawing/2014/main" id="{6D52EEB5-B6F4-5442-B906-F621134EC73F}"/>
                </a:ext>
              </a:extLst>
            </p:cNvPr>
            <p:cNvSpPr/>
            <p:nvPr/>
          </p:nvSpPr>
          <p:spPr>
            <a:xfrm>
              <a:off x="4795224" y="4718869"/>
              <a:ext cx="811137" cy="806303"/>
            </a:xfrm>
            <a:prstGeom prst="roundRect">
              <a:avLst>
                <a:gd name="adj" fmla="val 3338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00CBF2F1-55C5-45E4-9A1D-73C26DC5FB7B}"/>
              </a:ext>
            </a:extLst>
          </p:cNvPr>
          <p:cNvGrpSpPr/>
          <p:nvPr/>
        </p:nvGrpSpPr>
        <p:grpSpPr>
          <a:xfrm>
            <a:off x="12371533" y="7003980"/>
            <a:ext cx="1378578" cy="1189106"/>
            <a:chOff x="10828349" y="6005624"/>
            <a:chExt cx="811137" cy="806303"/>
          </a:xfrm>
        </p:grpSpPr>
        <p:pic>
          <p:nvPicPr>
            <p:cNvPr id="27" name="Google Shape;324;p2" descr="Fin">
              <a:extLst>
                <a:ext uri="{FF2B5EF4-FFF2-40B4-BE49-F238E27FC236}">
                  <a16:creationId xmlns:a16="http://schemas.microsoft.com/office/drawing/2014/main" id="{886D2868-2F7E-DB45-AC95-C03C0D5EA9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biLevel thresh="75000"/>
            </a:blip>
            <a:srcRect/>
            <a:stretch/>
          </p:blipFill>
          <p:spPr>
            <a:xfrm>
              <a:off x="10865603" y="6040461"/>
              <a:ext cx="736630" cy="736630"/>
            </a:xfrm>
            <a:prstGeom prst="ellipse">
              <a:avLst/>
            </a:prstGeom>
            <a:solidFill>
              <a:schemeClr val="bg2"/>
            </a:solidFill>
            <a:ln w="381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>
              <a:softEdge rad="109091"/>
            </a:effectLst>
          </p:spPr>
        </p:pic>
        <p:sp>
          <p:nvSpPr>
            <p:cNvPr id="43" name="Google Shape;254;p44">
              <a:extLst>
                <a:ext uri="{FF2B5EF4-FFF2-40B4-BE49-F238E27FC236}">
                  <a16:creationId xmlns:a16="http://schemas.microsoft.com/office/drawing/2014/main" id="{5403FA16-7567-4D21-BFAC-A337B18E4474}"/>
                </a:ext>
              </a:extLst>
            </p:cNvPr>
            <p:cNvSpPr/>
            <p:nvPr/>
          </p:nvSpPr>
          <p:spPr>
            <a:xfrm>
              <a:off x="10828349" y="6005624"/>
              <a:ext cx="811137" cy="806303"/>
            </a:xfrm>
            <a:prstGeom prst="roundRect">
              <a:avLst>
                <a:gd name="adj" fmla="val 3338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17F8246F-D621-4CCB-BDF0-B1059F9708A9}"/>
              </a:ext>
            </a:extLst>
          </p:cNvPr>
          <p:cNvGrpSpPr/>
          <p:nvPr/>
        </p:nvGrpSpPr>
        <p:grpSpPr>
          <a:xfrm>
            <a:off x="584239" y="7556780"/>
            <a:ext cx="1295400" cy="1189106"/>
            <a:chOff x="1192096" y="5935632"/>
            <a:chExt cx="1101758" cy="1189106"/>
          </a:xfrm>
        </p:grpSpPr>
        <p:pic>
          <p:nvPicPr>
            <p:cNvPr id="19" name="Google Shape;314;p2" descr="Porte-documents">
              <a:extLst>
                <a:ext uri="{FF2B5EF4-FFF2-40B4-BE49-F238E27FC236}">
                  <a16:creationId xmlns:a16="http://schemas.microsoft.com/office/drawing/2014/main" id="{B8CE8C5F-B4B0-7E4B-9587-5B006D0025A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alphaModFix/>
              <a:biLevel thresh="75000"/>
            </a:blip>
            <a:srcRect/>
            <a:stretch/>
          </p:blipFill>
          <p:spPr>
            <a:xfrm>
              <a:off x="1234968" y="6040461"/>
              <a:ext cx="1016015" cy="1008176"/>
            </a:xfrm>
            <a:prstGeom prst="ellipse">
              <a:avLst/>
            </a:prstGeom>
            <a:solidFill>
              <a:schemeClr val="bg2"/>
            </a:solidFill>
            <a:ln w="38100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>
              <a:softEdge rad="109091"/>
            </a:effectLst>
          </p:spPr>
        </p:pic>
        <p:sp>
          <p:nvSpPr>
            <p:cNvPr id="45" name="Google Shape;254;p44">
              <a:extLst>
                <a:ext uri="{FF2B5EF4-FFF2-40B4-BE49-F238E27FC236}">
                  <a16:creationId xmlns:a16="http://schemas.microsoft.com/office/drawing/2014/main" id="{B4F89E3A-4BC2-413A-B30E-51127A946399}"/>
                </a:ext>
              </a:extLst>
            </p:cNvPr>
            <p:cNvSpPr/>
            <p:nvPr/>
          </p:nvSpPr>
          <p:spPr>
            <a:xfrm>
              <a:off x="1192096" y="5935632"/>
              <a:ext cx="1101758" cy="1189106"/>
            </a:xfrm>
            <a:prstGeom prst="roundRect">
              <a:avLst>
                <a:gd name="adj" fmla="val 3338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" name="Google Shape;264;p44">
            <a:extLst>
              <a:ext uri="{FF2B5EF4-FFF2-40B4-BE49-F238E27FC236}">
                <a16:creationId xmlns:a16="http://schemas.microsoft.com/office/drawing/2014/main" id="{CCF88EA3-B237-4911-B21E-F60EDB51EF3E}"/>
              </a:ext>
            </a:extLst>
          </p:cNvPr>
          <p:cNvSpPr txBox="1">
            <a:spLocks/>
          </p:cNvSpPr>
          <p:nvPr/>
        </p:nvSpPr>
        <p:spPr>
          <a:xfrm>
            <a:off x="2125409" y="2923483"/>
            <a:ext cx="3430979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fr-FR" sz="2800" dirty="0">
                <a:latin typeface="+mj-lt"/>
              </a:rPr>
              <a:t>01. Présentation</a:t>
            </a:r>
          </a:p>
        </p:txBody>
      </p:sp>
      <p:sp>
        <p:nvSpPr>
          <p:cNvPr id="53" name="Google Shape;264;p44">
            <a:extLst>
              <a:ext uri="{FF2B5EF4-FFF2-40B4-BE49-F238E27FC236}">
                <a16:creationId xmlns:a16="http://schemas.microsoft.com/office/drawing/2014/main" id="{5968080C-9D86-4FFE-B527-D9F78688F388}"/>
              </a:ext>
            </a:extLst>
          </p:cNvPr>
          <p:cNvSpPr txBox="1">
            <a:spLocks/>
          </p:cNvSpPr>
          <p:nvPr/>
        </p:nvSpPr>
        <p:spPr>
          <a:xfrm>
            <a:off x="2125409" y="5367440"/>
            <a:ext cx="4259091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fr-FR" sz="2800" dirty="0">
                <a:latin typeface="+mj-lt"/>
              </a:rPr>
              <a:t>02. Cursus scolaire et professionnel</a:t>
            </a:r>
          </a:p>
        </p:txBody>
      </p:sp>
      <p:sp>
        <p:nvSpPr>
          <p:cNvPr id="54" name="Google Shape;264;p44">
            <a:extLst>
              <a:ext uri="{FF2B5EF4-FFF2-40B4-BE49-F238E27FC236}">
                <a16:creationId xmlns:a16="http://schemas.microsoft.com/office/drawing/2014/main" id="{6F32C2D5-754B-4277-BB2F-30B8AEB7E1D3}"/>
              </a:ext>
            </a:extLst>
          </p:cNvPr>
          <p:cNvSpPr txBox="1">
            <a:spLocks/>
          </p:cNvSpPr>
          <p:nvPr/>
        </p:nvSpPr>
        <p:spPr>
          <a:xfrm>
            <a:off x="2125409" y="7888383"/>
            <a:ext cx="4411492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fr-FR" sz="2800" dirty="0">
                <a:latin typeface="+mj-lt"/>
              </a:rPr>
              <a:t>03. Entreprise d’accueil</a:t>
            </a:r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DD0D05DA-6EF8-40BA-88D2-3C6FFE582103}"/>
              </a:ext>
            </a:extLst>
          </p:cNvPr>
          <p:cNvGrpSpPr/>
          <p:nvPr/>
        </p:nvGrpSpPr>
        <p:grpSpPr>
          <a:xfrm>
            <a:off x="6646958" y="2532871"/>
            <a:ext cx="5874677" cy="6187928"/>
            <a:chOff x="7802998" y="2607731"/>
            <a:chExt cx="5874677" cy="6187928"/>
          </a:xfrm>
        </p:grpSpPr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A0E14B9A-B9D7-40E1-8B58-1741023BC0BA}"/>
                </a:ext>
              </a:extLst>
            </p:cNvPr>
            <p:cNvGrpSpPr/>
            <p:nvPr/>
          </p:nvGrpSpPr>
          <p:grpSpPr>
            <a:xfrm>
              <a:off x="7874641" y="2607731"/>
              <a:ext cx="1295400" cy="1157404"/>
              <a:chOff x="6405572" y="2348088"/>
              <a:chExt cx="811137" cy="806303"/>
            </a:xfrm>
          </p:grpSpPr>
          <p:pic>
            <p:nvPicPr>
              <p:cNvPr id="20" name="Google Shape;316;p2" descr="Brainstorming de groupe">
                <a:extLst>
                  <a:ext uri="{FF2B5EF4-FFF2-40B4-BE49-F238E27FC236}">
                    <a16:creationId xmlns:a16="http://schemas.microsoft.com/office/drawing/2014/main" id="{314BA476-927B-9D4D-A1E7-1C5C6CE3BE8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7">
                <a:alphaModFix/>
                <a:biLevel thresh="75000"/>
              </a:blip>
              <a:srcRect/>
              <a:stretch/>
            </p:blipFill>
            <p:spPr>
              <a:xfrm>
                <a:off x="6441158" y="2350116"/>
                <a:ext cx="736630" cy="736630"/>
              </a:xfrm>
              <a:prstGeom prst="ellipse">
                <a:avLst/>
              </a:prstGeom>
              <a:solidFill>
                <a:schemeClr val="bg2"/>
              </a:solidFill>
              <a:ln w="38100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softEdge rad="109091"/>
              </a:effectLst>
            </p:spPr>
          </p:pic>
          <p:sp>
            <p:nvSpPr>
              <p:cNvPr id="28" name="Google Shape;254;p44">
                <a:extLst>
                  <a:ext uri="{FF2B5EF4-FFF2-40B4-BE49-F238E27FC236}">
                    <a16:creationId xmlns:a16="http://schemas.microsoft.com/office/drawing/2014/main" id="{676A3CEE-F8A7-B345-BEF1-23948A98134B}"/>
                  </a:ext>
                </a:extLst>
              </p:cNvPr>
              <p:cNvSpPr/>
              <p:nvPr/>
            </p:nvSpPr>
            <p:spPr>
              <a:xfrm>
                <a:off x="6405572" y="2348088"/>
                <a:ext cx="811137" cy="806303"/>
              </a:xfrm>
              <a:prstGeom prst="roundRect">
                <a:avLst>
                  <a:gd name="adj" fmla="val 3338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60F1163A-B4C0-472D-A905-69D5292F3F80}"/>
                </a:ext>
              </a:extLst>
            </p:cNvPr>
            <p:cNvGrpSpPr/>
            <p:nvPr/>
          </p:nvGrpSpPr>
          <p:grpSpPr>
            <a:xfrm>
              <a:off x="7874641" y="5032282"/>
              <a:ext cx="1295400" cy="1189106"/>
              <a:chOff x="7807177" y="4718869"/>
              <a:chExt cx="811137" cy="806303"/>
            </a:xfrm>
          </p:grpSpPr>
          <p:pic>
            <p:nvPicPr>
              <p:cNvPr id="21" name="Google Shape;318;p2" descr="Tête avec engrenages">
                <a:extLst>
                  <a:ext uri="{FF2B5EF4-FFF2-40B4-BE49-F238E27FC236}">
                    <a16:creationId xmlns:a16="http://schemas.microsoft.com/office/drawing/2014/main" id="{C3E427D4-BFB8-294F-B4B6-D3021AD4AF5F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8">
                <a:alphaModFix/>
                <a:biLevel thresh="75000"/>
              </a:blip>
              <a:srcRect t="63" b="63"/>
              <a:stretch/>
            </p:blipFill>
            <p:spPr>
              <a:xfrm>
                <a:off x="7823483" y="4775185"/>
                <a:ext cx="736630" cy="736630"/>
              </a:xfrm>
              <a:prstGeom prst="ellipse">
                <a:avLst/>
              </a:prstGeom>
              <a:solidFill>
                <a:schemeClr val="bg2"/>
              </a:solidFill>
              <a:ln w="38100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softEdge rad="109091"/>
              </a:effectLst>
            </p:spPr>
          </p:pic>
          <p:sp>
            <p:nvSpPr>
              <p:cNvPr id="29" name="Google Shape;254;p44">
                <a:extLst>
                  <a:ext uri="{FF2B5EF4-FFF2-40B4-BE49-F238E27FC236}">
                    <a16:creationId xmlns:a16="http://schemas.microsoft.com/office/drawing/2014/main" id="{2C8B3C44-5FEE-934D-AC80-4B2689422597}"/>
                  </a:ext>
                </a:extLst>
              </p:cNvPr>
              <p:cNvSpPr/>
              <p:nvPr/>
            </p:nvSpPr>
            <p:spPr>
              <a:xfrm>
                <a:off x="7807177" y="4718869"/>
                <a:ext cx="811137" cy="806303"/>
              </a:xfrm>
              <a:prstGeom prst="roundRect">
                <a:avLst>
                  <a:gd name="adj" fmla="val 3338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67653719-BC2B-43E2-BB1E-17056CABC21E}"/>
                </a:ext>
              </a:extLst>
            </p:cNvPr>
            <p:cNvGrpSpPr/>
            <p:nvPr/>
          </p:nvGrpSpPr>
          <p:grpSpPr>
            <a:xfrm>
              <a:off x="7802998" y="7507007"/>
              <a:ext cx="1378579" cy="1288652"/>
              <a:chOff x="10832775" y="3503741"/>
              <a:chExt cx="811137" cy="806303"/>
            </a:xfrm>
          </p:grpSpPr>
          <p:pic>
            <p:nvPicPr>
              <p:cNvPr id="25" name="Google Shape;322;p2" descr="Internet">
                <a:extLst>
                  <a:ext uri="{FF2B5EF4-FFF2-40B4-BE49-F238E27FC236}">
                    <a16:creationId xmlns:a16="http://schemas.microsoft.com/office/drawing/2014/main" id="{541740F0-C4FA-7C4E-AC46-B083217ECE3F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  <a:biLevel thresh="75000"/>
              </a:blip>
              <a:srcRect/>
              <a:stretch/>
            </p:blipFill>
            <p:spPr>
              <a:xfrm>
                <a:off x="10867539" y="3548132"/>
                <a:ext cx="736630" cy="736630"/>
              </a:xfrm>
              <a:prstGeom prst="ellipse">
                <a:avLst/>
              </a:prstGeom>
              <a:solidFill>
                <a:schemeClr val="bg2"/>
              </a:solidFill>
              <a:ln w="38100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softEdge rad="109091"/>
              </a:effectLst>
            </p:spPr>
          </p:pic>
          <p:sp>
            <p:nvSpPr>
              <p:cNvPr id="33" name="Google Shape;254;p44">
                <a:extLst>
                  <a:ext uri="{FF2B5EF4-FFF2-40B4-BE49-F238E27FC236}">
                    <a16:creationId xmlns:a16="http://schemas.microsoft.com/office/drawing/2014/main" id="{8A0781AB-445D-0843-8A1C-9AF103A5D295}"/>
                  </a:ext>
                </a:extLst>
              </p:cNvPr>
              <p:cNvSpPr/>
              <p:nvPr/>
            </p:nvSpPr>
            <p:spPr>
              <a:xfrm>
                <a:off x="10832775" y="3503741"/>
                <a:ext cx="811137" cy="806303"/>
              </a:xfrm>
              <a:prstGeom prst="roundRect">
                <a:avLst>
                  <a:gd name="adj" fmla="val 3338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55" name="Google Shape;264;p44">
              <a:extLst>
                <a:ext uri="{FF2B5EF4-FFF2-40B4-BE49-F238E27FC236}">
                  <a16:creationId xmlns:a16="http://schemas.microsoft.com/office/drawing/2014/main" id="{DFBC5F88-6F3C-4052-AC54-E1A380DA2B1D}"/>
                </a:ext>
              </a:extLst>
            </p:cNvPr>
            <p:cNvSpPr txBox="1">
              <a:spLocks/>
            </p:cNvSpPr>
            <p:nvPr/>
          </p:nvSpPr>
          <p:spPr>
            <a:xfrm>
              <a:off x="9418582" y="2923483"/>
              <a:ext cx="4259091" cy="5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9pPr>
            </a:lstStyle>
            <a:p>
              <a:pPr marL="0" indent="0"/>
              <a:r>
                <a:rPr lang="fr-FR" sz="2800" dirty="0">
                  <a:latin typeface="+mj-lt"/>
                </a:rPr>
                <a:t>04. Mon service</a:t>
              </a:r>
            </a:p>
          </p:txBody>
        </p:sp>
        <p:sp>
          <p:nvSpPr>
            <p:cNvPr id="56" name="Google Shape;264;p44">
              <a:extLst>
                <a:ext uri="{FF2B5EF4-FFF2-40B4-BE49-F238E27FC236}">
                  <a16:creationId xmlns:a16="http://schemas.microsoft.com/office/drawing/2014/main" id="{63A26F54-D328-4EEB-AD64-FECA0AB1B8E1}"/>
                </a:ext>
              </a:extLst>
            </p:cNvPr>
            <p:cNvSpPr txBox="1">
              <a:spLocks/>
            </p:cNvSpPr>
            <p:nvPr/>
          </p:nvSpPr>
          <p:spPr>
            <a:xfrm>
              <a:off x="9418583" y="5395562"/>
              <a:ext cx="4259091" cy="5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9pPr>
            </a:lstStyle>
            <a:p>
              <a:pPr marL="0" indent="0"/>
              <a:r>
                <a:rPr lang="fr-FR" sz="2800" dirty="0">
                  <a:latin typeface="+mj-lt"/>
                </a:rPr>
                <a:t>05. Missions réalisées en formation et en entreprise</a:t>
              </a:r>
            </a:p>
          </p:txBody>
        </p:sp>
        <p:sp>
          <p:nvSpPr>
            <p:cNvPr id="57" name="Google Shape;264;p44">
              <a:extLst>
                <a:ext uri="{FF2B5EF4-FFF2-40B4-BE49-F238E27FC236}">
                  <a16:creationId xmlns:a16="http://schemas.microsoft.com/office/drawing/2014/main" id="{3E968FB3-8A94-4F9F-9F1E-AA6E0F004E03}"/>
                </a:ext>
              </a:extLst>
            </p:cNvPr>
            <p:cNvSpPr txBox="1">
              <a:spLocks/>
            </p:cNvSpPr>
            <p:nvPr/>
          </p:nvSpPr>
          <p:spPr>
            <a:xfrm>
              <a:off x="9418584" y="7909822"/>
              <a:ext cx="4259091" cy="5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400"/>
                <a:buFont typeface="Exo"/>
                <a:buNone/>
                <a:defRPr sz="1400" b="0" i="0" u="none" strike="noStrike" cap="none">
                  <a:solidFill>
                    <a:schemeClr val="dk1"/>
                  </a:solidFill>
                  <a:latin typeface="Exo"/>
                  <a:ea typeface="Exo"/>
                  <a:cs typeface="Exo"/>
                  <a:sym typeface="Exo"/>
                </a:defRPr>
              </a:lvl9pPr>
            </a:lstStyle>
            <a:p>
              <a:pPr marL="0" indent="0"/>
              <a:r>
                <a:rPr lang="fr-FR" sz="2800" dirty="0">
                  <a:latin typeface="+mj-lt"/>
                </a:rPr>
                <a:t>06. Veille sur la supervision informatique</a:t>
              </a:r>
            </a:p>
          </p:txBody>
        </p:sp>
      </p:grpSp>
      <p:sp>
        <p:nvSpPr>
          <p:cNvPr id="59" name="Google Shape;264;p44">
            <a:extLst>
              <a:ext uri="{FF2B5EF4-FFF2-40B4-BE49-F238E27FC236}">
                <a16:creationId xmlns:a16="http://schemas.microsoft.com/office/drawing/2014/main" id="{10F7904B-45D4-4AC9-8FF6-A82D458114D1}"/>
              </a:ext>
            </a:extLst>
          </p:cNvPr>
          <p:cNvSpPr txBox="1">
            <a:spLocks/>
          </p:cNvSpPr>
          <p:nvPr/>
        </p:nvSpPr>
        <p:spPr>
          <a:xfrm>
            <a:off x="13971790" y="2913352"/>
            <a:ext cx="4259091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fr-FR" sz="2800">
                <a:latin typeface="+mj-lt"/>
              </a:rPr>
              <a:t>07. Portfolio</a:t>
            </a:r>
          </a:p>
        </p:txBody>
      </p:sp>
      <p:sp>
        <p:nvSpPr>
          <p:cNvPr id="60" name="Google Shape;264;p44">
            <a:extLst>
              <a:ext uri="{FF2B5EF4-FFF2-40B4-BE49-F238E27FC236}">
                <a16:creationId xmlns:a16="http://schemas.microsoft.com/office/drawing/2014/main" id="{6EBD0EB5-DA65-41C3-AAB6-FB51C597D210}"/>
              </a:ext>
            </a:extLst>
          </p:cNvPr>
          <p:cNvSpPr txBox="1">
            <a:spLocks/>
          </p:cNvSpPr>
          <p:nvPr/>
        </p:nvSpPr>
        <p:spPr>
          <a:xfrm>
            <a:off x="13859383" y="7297895"/>
            <a:ext cx="4259091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Exo"/>
              <a:buNone/>
              <a:defRPr sz="1400" b="0" i="0" u="none" strike="noStrike" cap="none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pPr marL="0" indent="0"/>
            <a:r>
              <a:rPr lang="fr-FR" sz="2800">
                <a:latin typeface="+mj-lt"/>
              </a:rPr>
              <a:t>08.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225128" y="818797"/>
            <a:ext cx="17852958" cy="3873193"/>
            <a:chOff x="-1" y="95250"/>
            <a:chExt cx="23803942" cy="516425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5250"/>
              <a:ext cx="14619841" cy="1733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50">
                  <a:solidFill>
                    <a:srgbClr val="3D05AD"/>
                  </a:solidFill>
                  <a:latin typeface="+mj-lt"/>
                </a:rPr>
                <a:t>01. Adam REFFAD</a:t>
              </a:r>
              <a:endParaRPr lang="en-US" sz="8999" dirty="0">
                <a:solidFill>
                  <a:srgbClr val="3D05AD"/>
                </a:solidFill>
                <a:latin typeface="+mj-l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-1" y="2227566"/>
              <a:ext cx="23803942" cy="30319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008"/>
                </a:lnSpc>
              </a:pPr>
              <a:r>
                <a:rPr lang="en-US" sz="4250" spc="128" dirty="0">
                  <a:solidFill>
                    <a:srgbClr val="3D05AD"/>
                  </a:solidFill>
                </a:rPr>
                <a:t>18 </a:t>
              </a:r>
              <a:r>
                <a:rPr lang="en-US" sz="4250" spc="128" dirty="0" err="1">
                  <a:solidFill>
                    <a:srgbClr val="3D05AD"/>
                  </a:solidFill>
                </a:rPr>
                <a:t>ans</a:t>
              </a:r>
              <a:endParaRPr lang="en-US" sz="4250" spc="128" dirty="0">
                <a:solidFill>
                  <a:srgbClr val="3D05AD"/>
                </a:solidFill>
              </a:endParaRPr>
            </a:p>
            <a:p>
              <a:pPr>
                <a:lnSpc>
                  <a:spcPts val="6008"/>
                </a:lnSpc>
              </a:pPr>
              <a:r>
                <a:rPr lang="en-US" sz="4250" spc="128" dirty="0" err="1">
                  <a:solidFill>
                    <a:srgbClr val="3D05AD"/>
                  </a:solidFill>
                </a:rPr>
                <a:t>Groslay</a:t>
              </a:r>
              <a:endParaRPr lang="en-US" sz="4291" spc="128" dirty="0" err="1">
                <a:solidFill>
                  <a:srgbClr val="3D05AD"/>
                </a:solidFill>
              </a:endParaRPr>
            </a:p>
            <a:p>
              <a:pPr>
                <a:lnSpc>
                  <a:spcPts val="6008"/>
                </a:lnSpc>
                <a:spcBef>
                  <a:spcPct val="0"/>
                </a:spcBef>
              </a:pPr>
              <a:r>
                <a:rPr lang="en-US" sz="4250" spc="128" dirty="0" err="1">
                  <a:solidFill>
                    <a:srgbClr val="3D05AD"/>
                  </a:solidFill>
                </a:rPr>
                <a:t>Centres</a:t>
              </a:r>
              <a:r>
                <a:rPr lang="en-US" sz="4250" spc="128" dirty="0">
                  <a:solidFill>
                    <a:srgbClr val="3D05AD"/>
                  </a:solidFill>
                </a:rPr>
                <a:t> </a:t>
              </a:r>
              <a:r>
                <a:rPr lang="en-US" sz="4250" spc="128" dirty="0" err="1">
                  <a:solidFill>
                    <a:srgbClr val="3D05AD"/>
                  </a:solidFill>
                </a:rPr>
                <a:t>intérêt</a:t>
              </a:r>
              <a:r>
                <a:rPr lang="en-US" sz="4250" spc="128" dirty="0">
                  <a:solidFill>
                    <a:srgbClr val="3D05AD"/>
                  </a:solidFill>
                </a:rPr>
                <a:t> : </a:t>
              </a:r>
              <a:r>
                <a:rPr lang="en-US" sz="4250" spc="128" dirty="0" err="1">
                  <a:solidFill>
                    <a:srgbClr val="3D05AD"/>
                  </a:solidFill>
                </a:rPr>
                <a:t>Programmation</a:t>
              </a:r>
              <a:r>
                <a:rPr lang="en-US" sz="4250" spc="128" dirty="0">
                  <a:solidFill>
                    <a:srgbClr val="3D05AD"/>
                  </a:solidFill>
                </a:rPr>
                <a:t>, Lecture, </a:t>
              </a:r>
              <a:r>
                <a:rPr lang="fr-FR" sz="4400" dirty="0">
                  <a:solidFill>
                    <a:srgbClr val="3D05AD"/>
                  </a:solidFill>
                </a:rPr>
                <a:t>Sport</a:t>
              </a:r>
              <a:endParaRPr lang="en-US" sz="4250" spc="128" dirty="0">
                <a:solidFill>
                  <a:srgbClr val="3D05AD"/>
                </a:solidFill>
                <a:cs typeface="Poppins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790514" y="5768841"/>
            <a:ext cx="4416235" cy="643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 dirty="0">
                <a:solidFill>
                  <a:srgbClr val="000000"/>
                </a:solidFill>
              </a:rPr>
              <a:t>Mon alternance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0672" y="5905427"/>
            <a:ext cx="3856087" cy="644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999" dirty="0">
                <a:solidFill>
                  <a:srgbClr val="000000"/>
                </a:solidFill>
              </a:rPr>
              <a:t>Mon école</a:t>
            </a:r>
          </a:p>
        </p:txBody>
      </p:sp>
      <p:pic>
        <p:nvPicPr>
          <p:cNvPr id="30" name="Graphique 29" descr="Flèche vers la droite avec un remplissage uni">
            <a:extLst>
              <a:ext uri="{FF2B5EF4-FFF2-40B4-BE49-F238E27FC236}">
                <a16:creationId xmlns:a16="http://schemas.microsoft.com/office/drawing/2014/main" id="{B5715746-906B-45D8-8DB0-709E21D0D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0880893" y="6517363"/>
            <a:ext cx="1257726" cy="1257726"/>
          </a:xfrm>
          <a:prstGeom prst="rect">
            <a:avLst/>
          </a:prstGeom>
        </p:spPr>
      </p:pic>
      <p:pic>
        <p:nvPicPr>
          <p:cNvPr id="31" name="Graphique 30" descr="Flèche vers la droite avec un remplissage uni">
            <a:extLst>
              <a:ext uri="{FF2B5EF4-FFF2-40B4-BE49-F238E27FC236}">
                <a16:creationId xmlns:a16="http://schemas.microsoft.com/office/drawing/2014/main" id="{8A402354-B08F-40E6-9E86-1620A2B2A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595167">
            <a:off x="6731892" y="6439163"/>
            <a:ext cx="1192010" cy="1192010"/>
          </a:xfrm>
          <a:prstGeom prst="rect">
            <a:avLst/>
          </a:prstGeom>
        </p:spPr>
      </p:pic>
      <p:pic>
        <p:nvPicPr>
          <p:cNvPr id="2" name="Picture 1" descr="CFA Cerfal-Campus Montsouris">
            <a:extLst>
              <a:ext uri="{FF2B5EF4-FFF2-40B4-BE49-F238E27FC236}">
                <a16:creationId xmlns:a16="http://schemas.microsoft.com/office/drawing/2014/main" id="{FD46E977-AF84-E3C2-3610-C5A5DAB4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768" y="8121718"/>
            <a:ext cx="2743199" cy="1338593"/>
          </a:xfrm>
          <a:prstGeom prst="rect">
            <a:avLst/>
          </a:prstGeom>
        </p:spPr>
      </p:pic>
      <p:pic>
        <p:nvPicPr>
          <p:cNvPr id="6" name="Picture 5" descr="Mairie de Paris">
            <a:extLst>
              <a:ext uri="{FF2B5EF4-FFF2-40B4-BE49-F238E27FC236}">
                <a16:creationId xmlns:a16="http://schemas.microsoft.com/office/drawing/2014/main" id="{7BEFCBAD-1D98-4EFF-89EB-F61DF481C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767" y="7681269"/>
            <a:ext cx="2743199" cy="20850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8981" y="5622118"/>
            <a:ext cx="17700397" cy="1596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46"/>
              </a:lnSpc>
            </a:pPr>
            <a:r>
              <a:rPr lang="en-US" sz="4150" dirty="0"/>
              <a:t>2025-2027 - </a:t>
            </a:r>
            <a:r>
              <a:rPr lang="en-US" sz="4150" dirty="0">
                <a:ea typeface="+mn-lt"/>
                <a:cs typeface="+mn-lt"/>
              </a:rPr>
              <a:t>BTS Services </a:t>
            </a:r>
            <a:r>
              <a:rPr lang="en-US" sz="4150" dirty="0" err="1">
                <a:ea typeface="+mn-lt"/>
                <a:cs typeface="+mn-lt"/>
              </a:rPr>
              <a:t>Informatiques</a:t>
            </a:r>
            <a:r>
              <a:rPr lang="en-US" sz="4150" dirty="0">
                <a:ea typeface="+mn-lt"/>
                <a:cs typeface="+mn-lt"/>
              </a:rPr>
              <a:t> aux </a:t>
            </a:r>
            <a:r>
              <a:rPr lang="en-US" sz="4150" dirty="0" err="1">
                <a:ea typeface="+mn-lt"/>
                <a:cs typeface="+mn-lt"/>
              </a:rPr>
              <a:t>Organisations</a:t>
            </a:r>
            <a:r>
              <a:rPr lang="en-US" sz="4150" dirty="0">
                <a:ea typeface="+mn-lt"/>
                <a:cs typeface="+mn-lt"/>
              </a:rPr>
              <a:t> SISR</a:t>
            </a:r>
            <a:endParaRPr lang="en-US" sz="4150" dirty="0" err="1">
              <a:cs typeface="Poppins"/>
            </a:endParaRPr>
          </a:p>
          <a:p>
            <a:pPr>
              <a:lnSpc>
                <a:spcPts val="1786"/>
              </a:lnSpc>
            </a:pPr>
            <a:endParaRPr lang="en-US" sz="4176" dirty="0"/>
          </a:p>
          <a:p>
            <a:pPr marL="1425575" lvl="1" indent="-571500">
              <a:lnSpc>
                <a:spcPts val="5146"/>
              </a:lnSpc>
              <a:buFont typeface="Arial"/>
              <a:buChar char="•"/>
            </a:pPr>
            <a:r>
              <a:rPr lang="en-US" sz="3650" dirty="0" err="1"/>
              <a:t>Administrateur</a:t>
            </a:r>
            <a:r>
              <a:rPr lang="en-US" sz="3650" dirty="0"/>
              <a:t> Supervision</a:t>
            </a:r>
            <a:endParaRPr lang="en-US" sz="5400" dirty="0">
              <a:cs typeface="Poppins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5480030" y="-254260"/>
            <a:ext cx="3169938" cy="326491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73876" y="2594747"/>
            <a:ext cx="13927923" cy="1206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4150" dirty="0"/>
              <a:t>2023-2025 - BAC </a:t>
            </a:r>
            <a:r>
              <a:rPr lang="en-US" sz="4150" dirty="0" err="1">
                <a:ea typeface="+mn-lt"/>
                <a:cs typeface="+mn-lt"/>
              </a:rPr>
              <a:t>général</a:t>
            </a:r>
            <a:r>
              <a:rPr lang="en-US" sz="4150" dirty="0">
                <a:ea typeface="+mn-lt"/>
                <a:cs typeface="+mn-lt"/>
              </a:rPr>
              <a:t> </a:t>
            </a:r>
            <a:r>
              <a:rPr lang="en-US" sz="4150" dirty="0" err="1">
                <a:ea typeface="+mn-lt"/>
                <a:cs typeface="+mn-lt"/>
              </a:rPr>
              <a:t>Mathématique</a:t>
            </a:r>
            <a:r>
              <a:rPr lang="en-US" sz="4150" dirty="0">
                <a:ea typeface="+mn-lt"/>
                <a:cs typeface="+mn-lt"/>
              </a:rPr>
              <a:t> et NSI</a:t>
            </a:r>
            <a:endParaRPr lang="en-US" sz="4150" dirty="0"/>
          </a:p>
          <a:p>
            <a:pPr algn="l">
              <a:lnSpc>
                <a:spcPts val="2346"/>
              </a:lnSpc>
            </a:pPr>
            <a:endParaRPr lang="en-US" sz="4180" dirty="0"/>
          </a:p>
        </p:txBody>
      </p:sp>
      <p:sp>
        <p:nvSpPr>
          <p:cNvPr id="9" name="TextBox 9"/>
          <p:cNvSpPr txBox="1"/>
          <p:nvPr/>
        </p:nvSpPr>
        <p:spPr>
          <a:xfrm>
            <a:off x="473877" y="530474"/>
            <a:ext cx="1465747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2599"/>
              </a:lnSpc>
              <a:spcBef>
                <a:spcPct val="0"/>
              </a:spcBef>
            </a:pPr>
            <a:r>
              <a:rPr lang="en-US" sz="9000" dirty="0">
                <a:solidFill>
                  <a:srgbClr val="4407BF"/>
                </a:solidFill>
                <a:latin typeface="+mj-lt"/>
              </a:rPr>
              <a:t>02. </a:t>
            </a:r>
            <a:r>
              <a:rPr lang="en-US" sz="9000" dirty="0" err="1">
                <a:solidFill>
                  <a:srgbClr val="4407BF"/>
                </a:solidFill>
                <a:latin typeface="+mj-lt"/>
              </a:rPr>
              <a:t>Parcours</a:t>
            </a:r>
            <a:r>
              <a:rPr lang="en-US" sz="9000" dirty="0">
                <a:solidFill>
                  <a:srgbClr val="4407BF"/>
                </a:solidFill>
                <a:latin typeface="+mj-lt"/>
              </a:rPr>
              <a:t> </a:t>
            </a:r>
            <a:r>
              <a:rPr lang="en-US" sz="9000" dirty="0" err="1">
                <a:solidFill>
                  <a:srgbClr val="4407BF"/>
                </a:solidFill>
                <a:latin typeface="+mj-lt"/>
              </a:rPr>
              <a:t>scolaire</a:t>
            </a:r>
            <a:endParaRPr lang="en-US" sz="9000" dirty="0">
              <a:solidFill>
                <a:srgbClr val="4407BF"/>
              </a:solidFill>
              <a:latin typeface="+mj-lt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39D88F-51A1-404E-B169-D67D2FE5B1FB}"/>
              </a:ext>
            </a:extLst>
          </p:cNvPr>
          <p:cNvSpPr txBox="1"/>
          <p:nvPr/>
        </p:nvSpPr>
        <p:spPr>
          <a:xfrm>
            <a:off x="5560359" y="3450042"/>
            <a:ext cx="10866056" cy="694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400">
                <a:solidFill>
                  <a:srgbClr val="000000"/>
                </a:solidFill>
                <a:ea typeface="+mn-lt"/>
                <a:cs typeface="+mn-lt"/>
              </a:rPr>
              <a:t>Lycée Jean Jacques Rousseau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9F1F-96D1-7037-6A43-F75C417301E6}"/>
              </a:ext>
            </a:extLst>
          </p:cNvPr>
          <p:cNvSpPr txBox="1"/>
          <p:nvPr/>
        </p:nvSpPr>
        <p:spPr>
          <a:xfrm>
            <a:off x="9833162" y="6420971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Poppins"/>
              </a:rPr>
              <a:t>CFA Campus </a:t>
            </a:r>
            <a:r>
              <a:rPr lang="en-US" sz="5400" dirty="0" err="1">
                <a:latin typeface="Poppins"/>
              </a:rPr>
              <a:t>Montsouris</a:t>
            </a:r>
            <a:endParaRPr lang="en-US" dirty="0" err="1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76200" y="-65504"/>
            <a:ext cx="1654995" cy="165499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6726287" y="8621387"/>
            <a:ext cx="1561713" cy="165499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133600" y="-94424"/>
            <a:ext cx="15112164" cy="1621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00"/>
              </a:lnSpc>
            </a:pPr>
            <a:r>
              <a:rPr lang="en-US" sz="9000" dirty="0" err="1">
                <a:solidFill>
                  <a:srgbClr val="3D05AD"/>
                </a:solidFill>
                <a:latin typeface="+mj-lt"/>
              </a:rPr>
              <a:t>Parcours</a:t>
            </a:r>
            <a:r>
              <a:rPr lang="en-US" sz="9000" dirty="0">
                <a:solidFill>
                  <a:srgbClr val="3D05AD"/>
                </a:solidFill>
                <a:latin typeface="+mj-lt"/>
              </a:rPr>
              <a:t> </a:t>
            </a:r>
            <a:r>
              <a:rPr lang="en-US" sz="9000" dirty="0" err="1">
                <a:solidFill>
                  <a:srgbClr val="3D05AD"/>
                </a:solidFill>
                <a:latin typeface="+mj-lt"/>
              </a:rPr>
              <a:t>professionnel</a:t>
            </a:r>
            <a:endParaRPr lang="en-US" sz="9000" dirty="0">
              <a:solidFill>
                <a:srgbClr val="3D05AD"/>
              </a:solidFill>
              <a:latin typeface="+mj-l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95400" y="8380299"/>
            <a:ext cx="11187256" cy="1199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</a:rPr>
              <a:t>Admin supervision </a:t>
            </a:r>
            <a:r>
              <a:rPr lang="en-US" sz="3400" dirty="0" err="1">
                <a:solidFill>
                  <a:srgbClr val="000000"/>
                </a:solidFill>
              </a:rPr>
              <a:t>informatique</a:t>
            </a:r>
            <a:r>
              <a:rPr lang="en-US" sz="3400" dirty="0">
                <a:solidFill>
                  <a:srgbClr val="000000"/>
                </a:solidFill>
              </a:rPr>
              <a:t> : 2 </a:t>
            </a:r>
            <a:r>
              <a:rPr lang="en-US" sz="3400" dirty="0" err="1">
                <a:solidFill>
                  <a:srgbClr val="000000"/>
                </a:solidFill>
              </a:rPr>
              <a:t>ans</a:t>
            </a:r>
            <a:r>
              <a:rPr lang="en-US" sz="3400" dirty="0">
                <a:solidFill>
                  <a:srgbClr val="000000"/>
                </a:solidFill>
              </a:rPr>
              <a:t> alternance</a:t>
            </a:r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>
                <a:solidFill>
                  <a:srgbClr val="000000"/>
                </a:solidFill>
              </a:rPr>
              <a:t>Ville de Paris</a:t>
            </a:r>
            <a:endParaRPr lang="en-US" sz="3400">
              <a:solidFill>
                <a:srgbClr val="000000"/>
              </a:solidFill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288C21F-AD0E-49DC-89AE-0F73AFAA04AF}"/>
              </a:ext>
            </a:extLst>
          </p:cNvPr>
          <p:cNvSpPr txBox="1"/>
          <p:nvPr/>
        </p:nvSpPr>
        <p:spPr>
          <a:xfrm>
            <a:off x="4689663" y="1906682"/>
            <a:ext cx="12823607" cy="49849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STAGE EN MÉDIATHÉQUE (gestion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informatique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matérielle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et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logiciel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, assistance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utilisateurs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) : </a:t>
            </a:r>
            <a:endParaRPr lang="en-US" dirty="0"/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Gestion des stocks. </a:t>
            </a:r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Gestion des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appels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entrants. </a:t>
            </a:r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Manipulation de la base de données des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utilisateurs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Mis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place des infrastructures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informatiques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</a:p>
          <a:p>
            <a:pPr marL="1468120" lvl="2" indent="-488950">
              <a:lnSpc>
                <a:spcPts val="475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3400" err="1">
                <a:solidFill>
                  <a:srgbClr val="000000"/>
                </a:solidFill>
                <a:ea typeface="+mn-lt"/>
                <a:cs typeface="+mn-lt"/>
              </a:rPr>
              <a:t>Rangement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et gestion du </a:t>
            </a:r>
            <a:r>
              <a:rPr lang="en-US" sz="3400" err="1">
                <a:solidFill>
                  <a:srgbClr val="000000"/>
                </a:solidFill>
                <a:ea typeface="+mn-lt"/>
                <a:cs typeface="+mn-lt"/>
              </a:rPr>
              <a:t>matériels</a:t>
            </a:r>
            <a:endParaRPr lang="en-US" sz="34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DE0DDC8-4EDC-4D2E-8070-5E341B4163DB}"/>
              </a:ext>
            </a:extLst>
          </p:cNvPr>
          <p:cNvSpPr txBox="1"/>
          <p:nvPr/>
        </p:nvSpPr>
        <p:spPr>
          <a:xfrm>
            <a:off x="1042236" y="7187942"/>
            <a:ext cx="7266829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99"/>
              </a:lnSpc>
            </a:pPr>
            <a:r>
              <a:rPr lang="en-US" sz="6600" b="1" dirty="0"/>
              <a:t>ALTERNANCE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A2FE17-AA53-4708-922C-AB4A347A8EB2}"/>
              </a:ext>
            </a:extLst>
          </p:cNvPr>
          <p:cNvSpPr txBox="1"/>
          <p:nvPr/>
        </p:nvSpPr>
        <p:spPr>
          <a:xfrm>
            <a:off x="1042236" y="1913918"/>
            <a:ext cx="5590113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99"/>
              </a:lnSpc>
            </a:pPr>
            <a:r>
              <a:rPr lang="en-US" sz="6600" b="1" dirty="0"/>
              <a:t>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366960" y="275497"/>
            <a:ext cx="1555408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dirty="0">
                <a:solidFill>
                  <a:srgbClr val="3D05AD"/>
                </a:solidFill>
                <a:latin typeface="+mj-lt"/>
              </a:rPr>
              <a:t>03. ENTREPRISE D'ACCUEIL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6960" y="1753850"/>
            <a:ext cx="15554080" cy="9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6450" dirty="0" err="1">
                <a:solidFill>
                  <a:srgbClr val="3D05AD"/>
                </a:solidFill>
                <a:latin typeface="+mj-lt"/>
              </a:rPr>
              <a:t>Présentation</a:t>
            </a:r>
            <a:r>
              <a:rPr lang="en-US" sz="6450" dirty="0">
                <a:solidFill>
                  <a:srgbClr val="3D05AD"/>
                </a:solidFill>
                <a:latin typeface="+mj-lt"/>
              </a:rPr>
              <a:t> de la </a:t>
            </a:r>
            <a:r>
              <a:rPr lang="en-US" sz="6450" dirty="0" err="1">
                <a:solidFill>
                  <a:srgbClr val="3D05AD"/>
                </a:solidFill>
                <a:latin typeface="+mj-lt"/>
              </a:rPr>
              <a:t>ville</a:t>
            </a:r>
            <a:r>
              <a:rPr lang="en-US" sz="6450" dirty="0">
                <a:solidFill>
                  <a:srgbClr val="3D05AD"/>
                </a:solidFill>
                <a:latin typeface="+mj-lt"/>
              </a:rPr>
              <a:t> de Paris</a:t>
            </a:r>
            <a:endParaRPr lang="en-US" sz="6499" dirty="0">
              <a:solidFill>
                <a:srgbClr val="3D05AD"/>
              </a:solidFill>
              <a:latin typeface="+mj-l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33758" y="3619500"/>
            <a:ext cx="12220483" cy="3849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71"/>
              </a:lnSpc>
            </a:pPr>
            <a:r>
              <a:rPr lang="fr-FR" sz="3550" dirty="0">
                <a:solidFill>
                  <a:srgbClr val="3D05AD"/>
                </a:solidFill>
                <a:ea typeface="+mn-lt"/>
                <a:cs typeface="+mn-lt"/>
              </a:rPr>
              <a:t>C'est une collectivité territoriale qui gère les services publics de la capitale françaises Paris.</a:t>
            </a:r>
            <a:endParaRPr lang="en-US" sz="355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4271"/>
              </a:lnSpc>
            </a:pPr>
            <a:br>
              <a:rPr lang="fr-FR" sz="3550" dirty="0">
                <a:solidFill>
                  <a:srgbClr val="3D05AD"/>
                </a:solidFill>
                <a:ea typeface="+mn-lt"/>
                <a:cs typeface="+mn-lt"/>
              </a:rPr>
            </a:br>
            <a:r>
              <a:rPr lang="fr-FR" sz="3550" dirty="0">
                <a:solidFill>
                  <a:srgbClr val="3D05AD"/>
                </a:solidFill>
                <a:ea typeface="+mn-lt"/>
                <a:cs typeface="+mn-lt"/>
              </a:rPr>
              <a:t>Elle emploie des milliers d’agents et possède une </a:t>
            </a:r>
            <a:r>
              <a:rPr lang="fr-FR" sz="3550" b="1" dirty="0">
                <a:solidFill>
                  <a:srgbClr val="3D05AD"/>
                </a:solidFill>
                <a:ea typeface="+mn-lt"/>
                <a:cs typeface="+mn-lt"/>
              </a:rPr>
              <a:t>infrastructure informatique croissante très importante</a:t>
            </a:r>
            <a:r>
              <a:rPr lang="fr-FR" sz="3550" dirty="0">
                <a:solidFill>
                  <a:srgbClr val="3D05AD"/>
                </a:solidFill>
                <a:ea typeface="+mn-lt"/>
                <a:cs typeface="+mn-lt"/>
              </a:rPr>
              <a:t> pour assurer ses missions et les services fourni à des millions d'utilisateurs en France.</a:t>
            </a:r>
            <a:endParaRPr lang="en-US" sz="355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089527" y="155056"/>
            <a:ext cx="15201834" cy="1535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00"/>
              </a:lnSpc>
            </a:pPr>
            <a:r>
              <a:rPr lang="en-US" sz="6600" dirty="0">
                <a:solidFill>
                  <a:srgbClr val="3D05AD"/>
                </a:solidFill>
                <a:latin typeface="+mj-lt"/>
              </a:rPr>
              <a:t>04. Le  Service  </a:t>
            </a:r>
            <a:r>
              <a:rPr lang="en-US" sz="6600" dirty="0" err="1">
                <a:solidFill>
                  <a:srgbClr val="3D05AD"/>
                </a:solidFill>
                <a:latin typeface="+mj-lt"/>
              </a:rPr>
              <a:t>informatique</a:t>
            </a:r>
            <a:endParaRPr lang="en-US" sz="6600" dirty="0" err="1">
              <a:solidFill>
                <a:srgbClr val="3D05AD"/>
              </a:solidFill>
              <a:latin typeface="+mj-lt"/>
              <a:cs typeface="Poppins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71831" y="2020594"/>
            <a:ext cx="6651098" cy="556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</a:pP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227 Rue de Bercy, 75012 Paris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AC552B-6D88-71EE-79F4-C4B150780518}"/>
              </a:ext>
            </a:extLst>
          </p:cNvPr>
          <p:cNvSpPr txBox="1"/>
          <p:nvPr/>
        </p:nvSpPr>
        <p:spPr>
          <a:xfrm>
            <a:off x="487455" y="3395383"/>
            <a:ext cx="16489453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50" dirty="0">
                <a:solidFill>
                  <a:srgbClr val="3D05AD"/>
                </a:solidFill>
                <a:latin typeface="Poppins"/>
              </a:rPr>
              <a:t>Je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travaille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au sein de la DSIN (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Direction du </a:t>
            </a:r>
            <a:r>
              <a:rPr lang="en-US" sz="3450" dirty="0" err="1">
                <a:solidFill>
                  <a:srgbClr val="3D05AD"/>
                </a:solidFill>
                <a:ea typeface="+mn-lt"/>
                <a:cs typeface="+mn-lt"/>
              </a:rPr>
              <a:t>système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 </a:t>
            </a:r>
            <a:r>
              <a:rPr lang="en-US" sz="3450" dirty="0" err="1">
                <a:solidFill>
                  <a:srgbClr val="3D05AD"/>
                </a:solidFill>
                <a:ea typeface="+mn-lt"/>
                <a:cs typeface="+mn-lt"/>
              </a:rPr>
              <a:t>d'information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 et du numérique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). </a:t>
            </a:r>
            <a:endParaRPr lang="en-US" sz="3450" dirty="0">
              <a:solidFill>
                <a:srgbClr val="000000"/>
              </a:solidFill>
              <a:latin typeface="Poppins"/>
              <a:cs typeface="Poppins"/>
            </a:endParaRPr>
          </a:p>
          <a:p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dans la section STIPS (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Infrastructures Production et Sécurité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). </a:t>
            </a:r>
            <a:endParaRPr lang="en-US" sz="3450" dirty="0">
              <a:solidFill>
                <a:srgbClr val="000000"/>
              </a:solidFill>
              <a:latin typeface="Poppins"/>
              <a:cs typeface="Poppins"/>
            </a:endParaRPr>
          </a:p>
          <a:p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au bureau BECID (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bureau de </a:t>
            </a:r>
            <a:r>
              <a:rPr lang="en-US" sz="3450" dirty="0" err="1">
                <a:solidFill>
                  <a:srgbClr val="3D05AD"/>
                </a:solidFill>
                <a:ea typeface="+mn-lt"/>
                <a:cs typeface="+mn-lt"/>
              </a:rPr>
              <a:t>l'exploitation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, du cloud et de </a:t>
            </a:r>
            <a:r>
              <a:rPr lang="en-US" sz="3450" dirty="0" err="1">
                <a:solidFill>
                  <a:srgbClr val="3D05AD"/>
                </a:solidFill>
                <a:ea typeface="+mn-lt"/>
                <a:cs typeface="+mn-lt"/>
              </a:rPr>
              <a:t>l'ingénierie</a:t>
            </a:r>
            <a:r>
              <a:rPr lang="en-US" sz="3450" dirty="0">
                <a:solidFill>
                  <a:srgbClr val="3D05AD"/>
                </a:solidFill>
                <a:ea typeface="+mn-lt"/>
                <a:cs typeface="+mn-lt"/>
              </a:rPr>
              <a:t> datacenter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). Dans le service Supervision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informatique</a:t>
            </a:r>
            <a:endParaRPr lang="en-US" sz="3450" dirty="0">
              <a:solidFill>
                <a:srgbClr val="3D05AD"/>
              </a:solidFill>
              <a:latin typeface="Poppins"/>
              <a:cs typeface="Poppins"/>
            </a:endParaRPr>
          </a:p>
          <a:p>
            <a:endParaRPr lang="en-US" sz="3450" dirty="0">
              <a:solidFill>
                <a:srgbClr val="3D05AD"/>
              </a:solidFill>
              <a:latin typeface="Poppins"/>
              <a:cs typeface="Poppins"/>
            </a:endParaRPr>
          </a:p>
          <a:p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Nous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travaillons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de concert avec les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autres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service du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batiment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comme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la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Virtualisation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et la MGIS (Mission et gestion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d’identité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 et </a:t>
            </a:r>
            <a:r>
              <a:rPr lang="en-US" sz="3450" dirty="0" err="1">
                <a:solidFill>
                  <a:srgbClr val="3D05AD"/>
                </a:solidFill>
                <a:latin typeface="Poppins"/>
                <a:cs typeface="Poppins"/>
              </a:rPr>
              <a:t>securité</a:t>
            </a:r>
            <a:r>
              <a:rPr lang="en-US" sz="3450" dirty="0">
                <a:solidFill>
                  <a:srgbClr val="3D05AD"/>
                </a:solidFill>
                <a:latin typeface="Poppins"/>
                <a:cs typeface="Poppins"/>
              </a:rPr>
              <a:t>)</a:t>
            </a:r>
            <a:endParaRPr lang="en-US" sz="3450" dirty="0">
              <a:cs typeface="Poppins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048000" y="-114169"/>
            <a:ext cx="12567910" cy="1621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00"/>
              </a:lnSpc>
            </a:pPr>
            <a:r>
              <a:rPr lang="en-US" sz="9000" dirty="0">
                <a:solidFill>
                  <a:srgbClr val="3D05AD"/>
                </a:solidFill>
                <a:latin typeface="+mj-lt"/>
              </a:rPr>
              <a:t>Le parc informatique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9EA86-D987-BDBC-1985-53F207CB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774" y="3936435"/>
            <a:ext cx="12263110" cy="63505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3E61CA-9F6A-42EF-98AD-BA653FE50A64}"/>
              </a:ext>
            </a:extLst>
          </p:cNvPr>
          <p:cNvSpPr/>
          <p:nvPr/>
        </p:nvSpPr>
        <p:spPr>
          <a:xfrm>
            <a:off x="2860045" y="1507429"/>
            <a:ext cx="125679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Il y a environ 20 mille machines supervisées et en exécution dans la ville. </a:t>
            </a:r>
          </a:p>
          <a:p>
            <a:r>
              <a:rPr lang="fr-FR" dirty="0"/>
              <a:t>-Dont 6 785 machines virtuelles (linux et </a:t>
            </a:r>
            <a:r>
              <a:rPr lang="fr-FR" dirty="0" err="1"/>
              <a:t>windows</a:t>
            </a:r>
            <a:r>
              <a:rPr lang="fr-FR" dirty="0"/>
              <a:t>) sous 144 hôtes physiques </a:t>
            </a:r>
            <a:r>
              <a:rPr lang="fr-FR" dirty="0" err="1"/>
              <a:t>Vmware</a:t>
            </a:r>
            <a:r>
              <a:rPr lang="fr-FR"/>
              <a:t>/ESX </a:t>
            </a:r>
            <a:r>
              <a:rPr lang="fr-FR" dirty="0"/>
              <a:t>(22 clusters)</a:t>
            </a:r>
          </a:p>
          <a:p>
            <a:r>
              <a:rPr lang="fr-FR" dirty="0"/>
              <a:t>-Et 1 152 machines virtuelles (linux et </a:t>
            </a:r>
            <a:r>
              <a:rPr lang="fr-FR" dirty="0" err="1"/>
              <a:t>windows</a:t>
            </a:r>
            <a:r>
              <a:rPr lang="fr-FR" dirty="0"/>
              <a:t>) sous 78 hôtes physiques Nutanix/AHV (11 clusters)</a:t>
            </a:r>
          </a:p>
          <a:p>
            <a:r>
              <a:rPr lang="fr-FR" dirty="0"/>
              <a:t>Tout le reste ce sont des machines extérieures à la ville, des climatiseurs, des baies de stockage ou des équipement réseaux (répéteur, routeur, switch etc…) ou autre.</a:t>
            </a:r>
          </a:p>
          <a:p>
            <a:endParaRPr lang="fr-FR" dirty="0"/>
          </a:p>
          <a:p>
            <a:r>
              <a:rPr lang="fr-FR" dirty="0"/>
              <a:t>(Ce sont les chiffres de Janvier 2026, le nombre d’hôte physique et virtuel a grandement augmenté depuis ce qui nous rapproche des 20K actuellement)</a:t>
            </a:r>
          </a:p>
        </p:txBody>
      </p:sp>
    </p:spTree>
    <p:extLst>
      <p:ext uri="{BB962C8B-B14F-4D97-AF65-F5344CB8AC3E}">
        <p14:creationId xmlns:p14="http://schemas.microsoft.com/office/powerpoint/2010/main" val="24298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819400" y="35773"/>
            <a:ext cx="11963400" cy="1621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00"/>
              </a:lnSpc>
            </a:pPr>
            <a:r>
              <a:rPr lang="en-US" sz="9000" dirty="0" err="1">
                <a:solidFill>
                  <a:srgbClr val="3D05AD"/>
                </a:solidFill>
                <a:latin typeface="+mj-lt"/>
              </a:rPr>
              <a:t>Logiciels</a:t>
            </a:r>
            <a:r>
              <a:rPr lang="en-US" sz="9000" dirty="0">
                <a:solidFill>
                  <a:srgbClr val="3D05AD"/>
                </a:solidFill>
                <a:latin typeface="+mj-lt"/>
              </a:rPr>
              <a:t> </a:t>
            </a:r>
            <a:r>
              <a:rPr lang="en-US" sz="9000" dirty="0" err="1">
                <a:solidFill>
                  <a:srgbClr val="3D05AD"/>
                </a:solidFill>
                <a:latin typeface="+mj-lt"/>
              </a:rPr>
              <a:t>utilisés</a:t>
            </a:r>
            <a:endParaRPr lang="en-US" sz="9000" dirty="0">
              <a:solidFill>
                <a:srgbClr val="3D05AD"/>
              </a:solidFill>
              <a:latin typeface="+mj-lt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74DA1839-F701-41EB-82BE-C4795AEB1845}"/>
              </a:ext>
            </a:extLst>
          </p:cNvPr>
          <p:cNvSpPr txBox="1"/>
          <p:nvPr/>
        </p:nvSpPr>
        <p:spPr>
          <a:xfrm>
            <a:off x="-228599" y="3673170"/>
            <a:ext cx="5181600" cy="112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</a:pPr>
            <a:r>
              <a:rPr lang="fr-FR" sz="3200" dirty="0">
                <a:solidFill>
                  <a:srgbClr val="000000"/>
                </a:solidFill>
              </a:rPr>
              <a:t>Pour superviser les 20k machines</a:t>
            </a:r>
            <a:endParaRPr lang="en-US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4FEBBA93-60CA-4A91-804D-F7328B14BD16}"/>
              </a:ext>
            </a:extLst>
          </p:cNvPr>
          <p:cNvSpPr txBox="1"/>
          <p:nvPr/>
        </p:nvSpPr>
        <p:spPr>
          <a:xfrm>
            <a:off x="4863331" y="8708335"/>
            <a:ext cx="7315200" cy="112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</a:pPr>
            <a:r>
              <a:rPr lang="fr-FR" sz="3200" dirty="0">
                <a:solidFill>
                  <a:srgbClr val="000000"/>
                </a:solidFill>
              </a:rPr>
              <a:t>pour se connecter aux serveurs virtuels et à distances en SSH</a:t>
            </a:r>
            <a:endParaRPr lang="fr-FR" sz="3200" dirty="0">
              <a:solidFill>
                <a:srgbClr val="000000"/>
              </a:solidFill>
              <a:cs typeface="Poppins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4660128-43FE-4207-800F-D36A598423BD}"/>
              </a:ext>
            </a:extLst>
          </p:cNvPr>
          <p:cNvSpPr txBox="1"/>
          <p:nvPr/>
        </p:nvSpPr>
        <p:spPr>
          <a:xfrm>
            <a:off x="4191000" y="4510669"/>
            <a:ext cx="8659863" cy="112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</a:pPr>
            <a:r>
              <a:rPr lang="fr-FR" sz="3200" dirty="0">
                <a:solidFill>
                  <a:srgbClr val="000000"/>
                </a:solidFill>
              </a:rPr>
              <a:t>Une version métier de </a:t>
            </a:r>
            <a:r>
              <a:rPr lang="fr-FR" sz="3200" dirty="0" err="1">
                <a:solidFill>
                  <a:srgbClr val="000000"/>
                </a:solidFill>
              </a:rPr>
              <a:t>Easy</a:t>
            </a:r>
            <a:r>
              <a:rPr lang="fr-FR" sz="3200" dirty="0">
                <a:solidFill>
                  <a:srgbClr val="000000"/>
                </a:solidFill>
              </a:rPr>
              <a:t> Vista pour les tickets (nommé "Satis" dans l'entreprise)</a:t>
            </a:r>
            <a:endParaRPr lang="fr-FR" sz="3200" dirty="0">
              <a:solidFill>
                <a:srgbClr val="000000"/>
              </a:solidFill>
              <a:cs typeface="Poppins"/>
            </a:endParaRPr>
          </a:p>
        </p:txBody>
      </p:sp>
      <p:pic>
        <p:nvPicPr>
          <p:cNvPr id="2" name="Picture 1" descr="EasyVista Alternative: UX, Performance, and More">
            <a:extLst>
              <a:ext uri="{FF2B5EF4-FFF2-40B4-BE49-F238E27FC236}">
                <a16:creationId xmlns:a16="http://schemas.microsoft.com/office/drawing/2014/main" id="{4AE16DD6-4588-AB30-A7E6-C92A778E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776" y="1903155"/>
            <a:ext cx="5801848" cy="2464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151D3E-AE77-ECA8-3A46-B7A306BF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486311"/>
            <a:ext cx="4191000" cy="1933575"/>
          </a:xfrm>
          <a:prstGeom prst="rect">
            <a:avLst/>
          </a:prstGeom>
        </p:spPr>
      </p:pic>
      <p:pic>
        <p:nvPicPr>
          <p:cNvPr id="7" name="Picture 6" descr="Agent-Based Monitoring: Comprehensive Guide for IT Infrastructure">
            <a:extLst>
              <a:ext uri="{FF2B5EF4-FFF2-40B4-BE49-F238E27FC236}">
                <a16:creationId xmlns:a16="http://schemas.microsoft.com/office/drawing/2014/main" id="{3F8674B1-C2A6-A933-883D-CAD9B4271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47317"/>
            <a:ext cx="2743198" cy="1417489"/>
          </a:xfrm>
          <a:prstGeom prst="rect">
            <a:avLst/>
          </a:prstGeom>
        </p:spPr>
      </p:pic>
      <p:pic>
        <p:nvPicPr>
          <p:cNvPr id="1026" name="Picture 2" descr="Pack Office Version Complète _ Microsoft Office Famille et Étudiant ...">
            <a:extLst>
              <a:ext uri="{FF2B5EF4-FFF2-40B4-BE49-F238E27FC236}">
                <a16:creationId xmlns:a16="http://schemas.microsoft.com/office/drawing/2014/main" id="{05AC9CC1-E642-4015-9C16-C591E892D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200" y="2767144"/>
            <a:ext cx="5059174" cy="293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6BE595-47DC-4B9D-BB23-7588FE7EA444}"/>
              </a:ext>
            </a:extLst>
          </p:cNvPr>
          <p:cNvSpPr/>
          <p:nvPr/>
        </p:nvSpPr>
        <p:spPr>
          <a:xfrm>
            <a:off x="13792200" y="5722211"/>
            <a:ext cx="3200400" cy="1217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517"/>
              </a:lnSpc>
            </a:pPr>
            <a:r>
              <a:rPr lang="fr-FR" sz="3200" dirty="0">
                <a:solidFill>
                  <a:srgbClr val="000000"/>
                </a:solidFill>
              </a:rPr>
              <a:t>Évidemment le pack office</a:t>
            </a:r>
            <a:endParaRPr lang="fr-FR" sz="3200" dirty="0">
              <a:solidFill>
                <a:srgbClr val="000000"/>
              </a:solidFill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6320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492374"/>
            <a:ext cx="17068800" cy="254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>
                <a:solidFill>
                  <a:srgbClr val="3D05AD"/>
                </a:solidFill>
                <a:latin typeface="+mj-lt"/>
              </a:rPr>
              <a:t>05. MISSIONS REALISEES FORMATION</a:t>
            </a:r>
            <a:endParaRPr lang="en-US" sz="9000">
              <a:solidFill>
                <a:srgbClr val="3D05AD"/>
              </a:solidFill>
              <a:latin typeface="+mj-lt"/>
              <a:cs typeface="Poppins Medium"/>
            </a:endParaRPr>
          </a:p>
        </p:txBody>
      </p:sp>
      <p:grpSp>
        <p:nvGrpSpPr>
          <p:cNvPr id="27" name="Google Shape;4579;p85">
            <a:extLst>
              <a:ext uri="{FF2B5EF4-FFF2-40B4-BE49-F238E27FC236}">
                <a16:creationId xmlns:a16="http://schemas.microsoft.com/office/drawing/2014/main" id="{32987204-D48D-A94F-8430-6A42C5C01940}"/>
              </a:ext>
            </a:extLst>
          </p:cNvPr>
          <p:cNvGrpSpPr/>
          <p:nvPr/>
        </p:nvGrpSpPr>
        <p:grpSpPr>
          <a:xfrm>
            <a:off x="626417" y="3645273"/>
            <a:ext cx="17081676" cy="1725808"/>
            <a:chOff x="3234528" y="3290903"/>
            <a:chExt cx="2127569" cy="236655"/>
          </a:xfrm>
        </p:grpSpPr>
        <p:sp>
          <p:nvSpPr>
            <p:cNvPr id="38" name="Google Shape;4581;p85">
              <a:extLst>
                <a:ext uri="{FF2B5EF4-FFF2-40B4-BE49-F238E27FC236}">
                  <a16:creationId xmlns:a16="http://schemas.microsoft.com/office/drawing/2014/main" id="{11F37201-0894-F344-8D53-C8A66D879955}"/>
                </a:ext>
              </a:extLst>
            </p:cNvPr>
            <p:cNvSpPr/>
            <p:nvPr/>
          </p:nvSpPr>
          <p:spPr>
            <a:xfrm>
              <a:off x="3234528" y="3290905"/>
              <a:ext cx="523744" cy="23665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Installer une machine virtuelle Windows 10 à l'aide de VirtualBox.</a:t>
              </a:r>
              <a:endParaRPr lang="en-US"/>
            </a:p>
          </p:txBody>
        </p:sp>
        <p:sp>
          <p:nvSpPr>
            <p:cNvPr id="36" name="Google Shape;4588;p85">
              <a:extLst>
                <a:ext uri="{FF2B5EF4-FFF2-40B4-BE49-F238E27FC236}">
                  <a16:creationId xmlns:a16="http://schemas.microsoft.com/office/drawing/2014/main" id="{5616B3E7-DBBC-FF40-A053-28F804160946}"/>
                </a:ext>
              </a:extLst>
            </p:cNvPr>
            <p:cNvSpPr/>
            <p:nvPr/>
          </p:nvSpPr>
          <p:spPr>
            <a:xfrm>
              <a:off x="3781579" y="3290903"/>
              <a:ext cx="511183" cy="23665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Remplacer une prise (connecteur) RJ45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Google Shape;4595;p85">
              <a:extLst>
                <a:ext uri="{FF2B5EF4-FFF2-40B4-BE49-F238E27FC236}">
                  <a16:creationId xmlns:a16="http://schemas.microsoft.com/office/drawing/2014/main" id="{6C4BCE1A-8CED-7048-AAA6-77CE321A444C}"/>
                </a:ext>
              </a:extLst>
            </p:cNvPr>
            <p:cNvSpPr/>
            <p:nvPr/>
          </p:nvSpPr>
          <p:spPr>
            <a:xfrm>
              <a:off x="4308920" y="3290903"/>
              <a:ext cx="509090" cy="236652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 dirty="0">
                  <a:solidFill>
                    <a:schemeClr val="bg1"/>
                  </a:solidFill>
                </a:rPr>
                <a:t>Créer un agent de récupération EFS sur une machine </a:t>
              </a:r>
              <a:r>
                <a:rPr lang="fr-FR" sz="2800">
                  <a:solidFill>
                    <a:schemeClr val="bg1"/>
                  </a:solidFill>
                </a:rPr>
                <a:t>Windows</a:t>
              </a:r>
              <a:r>
                <a:rPr lang="fr-FR" sz="2800" dirty="0">
                  <a:solidFill>
                    <a:schemeClr val="bg1"/>
                  </a:solidFill>
                </a:rPr>
                <a:t> server 2022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Google Shape;4602;p85">
              <a:extLst>
                <a:ext uri="{FF2B5EF4-FFF2-40B4-BE49-F238E27FC236}">
                  <a16:creationId xmlns:a16="http://schemas.microsoft.com/office/drawing/2014/main" id="{9D71BB57-0B14-FB48-BF65-352382D83523}"/>
                </a:ext>
              </a:extLst>
            </p:cNvPr>
            <p:cNvSpPr/>
            <p:nvPr/>
          </p:nvSpPr>
          <p:spPr>
            <a:xfrm>
              <a:off x="4857195" y="3290903"/>
              <a:ext cx="504902" cy="23665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Installer et configurer un serveur web Debian 11</a:t>
              </a:r>
              <a:endParaRPr lang="en-US"/>
            </a:p>
          </p:txBody>
        </p:sp>
      </p:grpSp>
      <p:grpSp>
        <p:nvGrpSpPr>
          <p:cNvPr id="3" name="Google Shape;4579;p85">
            <a:extLst>
              <a:ext uri="{FF2B5EF4-FFF2-40B4-BE49-F238E27FC236}">
                <a16:creationId xmlns:a16="http://schemas.microsoft.com/office/drawing/2014/main" id="{17F7F1E1-D204-41D9-4230-825C5F929A5B}"/>
              </a:ext>
            </a:extLst>
          </p:cNvPr>
          <p:cNvGrpSpPr/>
          <p:nvPr/>
        </p:nvGrpSpPr>
        <p:grpSpPr>
          <a:xfrm>
            <a:off x="626413" y="6149768"/>
            <a:ext cx="17031256" cy="1793029"/>
            <a:chOff x="3247089" y="3290903"/>
            <a:chExt cx="2121289" cy="245873"/>
          </a:xfrm>
        </p:grpSpPr>
        <p:sp>
          <p:nvSpPr>
            <p:cNvPr id="4" name="Google Shape;4581;p85">
              <a:extLst>
                <a:ext uri="{FF2B5EF4-FFF2-40B4-BE49-F238E27FC236}">
                  <a16:creationId xmlns:a16="http://schemas.microsoft.com/office/drawing/2014/main" id="{ED50F339-C552-DED8-79F9-ABFC31F2F6E6}"/>
                </a:ext>
              </a:extLst>
            </p:cNvPr>
            <p:cNvSpPr/>
            <p:nvPr/>
          </p:nvSpPr>
          <p:spPr>
            <a:xfrm>
              <a:off x="3247089" y="3290905"/>
              <a:ext cx="511183" cy="23204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Réparer un RAID5 défectueux sur Windows server 2022</a:t>
              </a:r>
              <a:endParaRPr lang="en-US"/>
            </a:p>
          </p:txBody>
        </p:sp>
        <p:sp>
          <p:nvSpPr>
            <p:cNvPr id="5" name="Google Shape;4588;p85">
              <a:extLst>
                <a:ext uri="{FF2B5EF4-FFF2-40B4-BE49-F238E27FC236}">
                  <a16:creationId xmlns:a16="http://schemas.microsoft.com/office/drawing/2014/main" id="{F2CBD325-A3B9-875D-B115-97B9BF090738}"/>
                </a:ext>
              </a:extLst>
            </p:cNvPr>
            <p:cNvSpPr/>
            <p:nvPr/>
          </p:nvSpPr>
          <p:spPr>
            <a:xfrm>
              <a:off x="3781579" y="3290903"/>
              <a:ext cx="498622" cy="24587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  <a:latin typeface="+mn-lt"/>
                </a:rPr>
                <a:t>Mise en place de "</a:t>
              </a:r>
              <a:r>
                <a:rPr lang="fr-FR" sz="2800" err="1">
                  <a:solidFill>
                    <a:schemeClr val="bg1"/>
                  </a:solidFill>
                  <a:latin typeface="+mn-lt"/>
                </a:rPr>
                <a:t>OpenMediaVault</a:t>
              </a:r>
              <a:r>
                <a:rPr lang="fr-FR" sz="2800">
                  <a:solidFill>
                    <a:schemeClr val="bg1"/>
                  </a:solidFill>
                  <a:latin typeface="+mn-lt"/>
                </a:rPr>
                <a:t>" sur une machine Linux Debian 12</a:t>
              </a:r>
              <a:endParaRPr lang="fr-FR" sz="2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" name="Google Shape;4595;p85">
              <a:extLst>
                <a:ext uri="{FF2B5EF4-FFF2-40B4-BE49-F238E27FC236}">
                  <a16:creationId xmlns:a16="http://schemas.microsoft.com/office/drawing/2014/main" id="{89F3BBFB-7A2F-2342-45C5-B89F9216FA03}"/>
                </a:ext>
              </a:extLst>
            </p:cNvPr>
            <p:cNvSpPr/>
            <p:nvPr/>
          </p:nvSpPr>
          <p:spPr>
            <a:xfrm>
              <a:off x="4313106" y="3290903"/>
              <a:ext cx="504903" cy="20899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 dirty="0">
                  <a:solidFill>
                    <a:schemeClr val="bg1"/>
                  </a:solidFill>
                  <a:latin typeface="+mn-lt"/>
                </a:rPr>
                <a:t> </a:t>
              </a:r>
            </a:p>
          </p:txBody>
        </p:sp>
        <p:sp>
          <p:nvSpPr>
            <p:cNvPr id="7" name="Google Shape;4602;p85">
              <a:extLst>
                <a:ext uri="{FF2B5EF4-FFF2-40B4-BE49-F238E27FC236}">
                  <a16:creationId xmlns:a16="http://schemas.microsoft.com/office/drawing/2014/main" id="{A0A76F1E-0B52-E54D-C859-396637CC03D0}"/>
                </a:ext>
              </a:extLst>
            </p:cNvPr>
            <p:cNvSpPr/>
            <p:nvPr/>
          </p:nvSpPr>
          <p:spPr>
            <a:xfrm>
              <a:off x="4857195" y="3290903"/>
              <a:ext cx="511183" cy="20899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 dirty="0">
                  <a:solidFill>
                    <a:schemeClr val="bg1"/>
                  </a:solidFill>
                  <a:latin typeface="+mn-lt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" y="492373"/>
            <a:ext cx="18211800" cy="1225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7600">
                <a:solidFill>
                  <a:srgbClr val="3D05AD"/>
                </a:solidFill>
                <a:latin typeface="+mj-lt"/>
              </a:rPr>
              <a:t>MISSIONS REALISEES EN ENTREPRISE</a:t>
            </a:r>
          </a:p>
        </p:txBody>
      </p:sp>
      <p:grpSp>
        <p:nvGrpSpPr>
          <p:cNvPr id="27" name="Google Shape;4579;p85">
            <a:extLst>
              <a:ext uri="{FF2B5EF4-FFF2-40B4-BE49-F238E27FC236}">
                <a16:creationId xmlns:a16="http://schemas.microsoft.com/office/drawing/2014/main" id="{8B217ACF-68D6-4D59-8A03-725032140648}"/>
              </a:ext>
            </a:extLst>
          </p:cNvPr>
          <p:cNvGrpSpPr/>
          <p:nvPr/>
        </p:nvGrpSpPr>
        <p:grpSpPr>
          <a:xfrm>
            <a:off x="929425" y="2915433"/>
            <a:ext cx="16534609" cy="2189101"/>
            <a:chOff x="3259650" y="3286327"/>
            <a:chExt cx="2096167" cy="148997"/>
          </a:xfrm>
        </p:grpSpPr>
        <p:sp>
          <p:nvSpPr>
            <p:cNvPr id="38" name="Google Shape;4581;p85">
              <a:extLst>
                <a:ext uri="{FF2B5EF4-FFF2-40B4-BE49-F238E27FC236}">
                  <a16:creationId xmlns:a16="http://schemas.microsoft.com/office/drawing/2014/main" id="{3422EB38-965F-41E4-A259-05D3AC26F37A}"/>
                </a:ext>
              </a:extLst>
            </p:cNvPr>
            <p:cNvSpPr/>
            <p:nvPr/>
          </p:nvSpPr>
          <p:spPr>
            <a:xfrm>
              <a:off x="3259650" y="3290905"/>
              <a:ext cx="498622" cy="139845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Intégration de nouveaux hôtes dans la plateforme de supervision Centreon</a:t>
              </a:r>
              <a:endParaRPr lang="en-US"/>
            </a:p>
          </p:txBody>
        </p:sp>
        <p:sp>
          <p:nvSpPr>
            <p:cNvPr id="36" name="Google Shape;4588;p85">
              <a:extLst>
                <a:ext uri="{FF2B5EF4-FFF2-40B4-BE49-F238E27FC236}">
                  <a16:creationId xmlns:a16="http://schemas.microsoft.com/office/drawing/2014/main" id="{64D3E1C7-D279-4559-B489-AA2F91FDD398}"/>
                </a:ext>
              </a:extLst>
            </p:cNvPr>
            <p:cNvSpPr/>
            <p:nvPr/>
          </p:nvSpPr>
          <p:spPr>
            <a:xfrm>
              <a:off x="3781579" y="3290903"/>
              <a:ext cx="498622" cy="139845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Configuration d’un service de supervision associé à un hôte dans Centreon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Google Shape;4595;p85">
              <a:extLst>
                <a:ext uri="{FF2B5EF4-FFF2-40B4-BE49-F238E27FC236}">
                  <a16:creationId xmlns:a16="http://schemas.microsoft.com/office/drawing/2014/main" id="{D89452D5-1801-460C-88D7-D89625C3648B}"/>
                </a:ext>
              </a:extLst>
            </p:cNvPr>
            <p:cNvSpPr/>
            <p:nvPr/>
          </p:nvSpPr>
          <p:spPr>
            <a:xfrm>
              <a:off x="4310863" y="3287471"/>
              <a:ext cx="507146" cy="14785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 dirty="0">
                  <a:solidFill>
                    <a:schemeClr val="bg1"/>
                  </a:solidFill>
                </a:rPr>
                <a:t>Création et exécution de scénarios </a:t>
              </a:r>
              <a:r>
                <a:rPr lang="fr-FR" sz="2800" dirty="0" err="1">
                  <a:solidFill>
                    <a:schemeClr val="bg1"/>
                  </a:solidFill>
                </a:rPr>
                <a:t>JMeter</a:t>
              </a:r>
              <a:r>
                <a:rPr lang="fr-FR" sz="2800" dirty="0">
                  <a:solidFill>
                    <a:schemeClr val="bg1"/>
                  </a:solidFill>
                </a:rPr>
                <a:t> pour la supervision d’URL simple ou complexe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Google Shape;4602;p85">
              <a:extLst>
                <a:ext uri="{FF2B5EF4-FFF2-40B4-BE49-F238E27FC236}">
                  <a16:creationId xmlns:a16="http://schemas.microsoft.com/office/drawing/2014/main" id="{05489354-564E-4F91-9E86-F8B6833A58F1}"/>
                </a:ext>
              </a:extLst>
            </p:cNvPr>
            <p:cNvSpPr/>
            <p:nvPr/>
          </p:nvSpPr>
          <p:spPr>
            <a:xfrm>
              <a:off x="4857195" y="3286327"/>
              <a:ext cx="498622" cy="147853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Mise en place d’une représentation graphique de l’infrastructure via Centreon MAP</a:t>
              </a:r>
              <a:endParaRPr lang="en-US"/>
            </a:p>
          </p:txBody>
        </p:sp>
      </p:grpSp>
      <p:grpSp>
        <p:nvGrpSpPr>
          <p:cNvPr id="40" name="Google Shape;4579;p85">
            <a:extLst>
              <a:ext uri="{FF2B5EF4-FFF2-40B4-BE49-F238E27FC236}">
                <a16:creationId xmlns:a16="http://schemas.microsoft.com/office/drawing/2014/main" id="{6E9F396B-E4A1-4954-852F-773183E82F0D}"/>
              </a:ext>
            </a:extLst>
          </p:cNvPr>
          <p:cNvGrpSpPr/>
          <p:nvPr/>
        </p:nvGrpSpPr>
        <p:grpSpPr>
          <a:xfrm>
            <a:off x="916734" y="6241715"/>
            <a:ext cx="16547300" cy="3059425"/>
            <a:chOff x="3259650" y="3293257"/>
            <a:chExt cx="2096167" cy="237491"/>
          </a:xfrm>
        </p:grpSpPr>
        <p:sp>
          <p:nvSpPr>
            <p:cNvPr id="51" name="Google Shape;4581;p85">
              <a:extLst>
                <a:ext uri="{FF2B5EF4-FFF2-40B4-BE49-F238E27FC236}">
                  <a16:creationId xmlns:a16="http://schemas.microsoft.com/office/drawing/2014/main" id="{F963A291-F3E3-439F-AB23-DA28A598E68D}"/>
                </a:ext>
              </a:extLst>
            </p:cNvPr>
            <p:cNvSpPr/>
            <p:nvPr/>
          </p:nvSpPr>
          <p:spPr>
            <a:xfrm>
              <a:off x="3259650" y="3293259"/>
              <a:ext cx="498622" cy="170946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Mise en supervision de climatiseurs INROW sur Centreon</a:t>
              </a:r>
              <a:endParaRPr lang="en-US"/>
            </a:p>
          </p:txBody>
        </p:sp>
        <p:sp>
          <p:nvSpPr>
            <p:cNvPr id="49" name="Google Shape;4588;p85">
              <a:extLst>
                <a:ext uri="{FF2B5EF4-FFF2-40B4-BE49-F238E27FC236}">
                  <a16:creationId xmlns:a16="http://schemas.microsoft.com/office/drawing/2014/main" id="{D081D65D-8FD8-4427-AB68-3854A1113541}"/>
                </a:ext>
              </a:extLst>
            </p:cNvPr>
            <p:cNvSpPr/>
            <p:nvPr/>
          </p:nvSpPr>
          <p:spPr>
            <a:xfrm>
              <a:off x="3781579" y="3293257"/>
              <a:ext cx="498622" cy="170946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Mis à jour de l’application Centreon elle même </a:t>
              </a:r>
              <a:endParaRPr lang="en-US"/>
            </a:p>
          </p:txBody>
        </p:sp>
        <p:sp>
          <p:nvSpPr>
            <p:cNvPr id="47" name="Google Shape;4595;p85">
              <a:extLst>
                <a:ext uri="{FF2B5EF4-FFF2-40B4-BE49-F238E27FC236}">
                  <a16:creationId xmlns:a16="http://schemas.microsoft.com/office/drawing/2014/main" id="{BEF14814-E86E-48A4-B883-6C799D2F3CFF}"/>
                </a:ext>
              </a:extLst>
            </p:cNvPr>
            <p:cNvSpPr/>
            <p:nvPr/>
          </p:nvSpPr>
          <p:spPr>
            <a:xfrm>
              <a:off x="4308741" y="3293257"/>
              <a:ext cx="509268" cy="237491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Importation en supervision dans Centreon d’une liste d’hôtes écrit sous format CSV (automatisé via un script BASH.) </a:t>
              </a:r>
              <a:endParaRPr lang="en-US"/>
            </a:p>
          </p:txBody>
        </p:sp>
        <p:sp>
          <p:nvSpPr>
            <p:cNvPr id="45" name="Google Shape;4602;p85">
              <a:extLst>
                <a:ext uri="{FF2B5EF4-FFF2-40B4-BE49-F238E27FC236}">
                  <a16:creationId xmlns:a16="http://schemas.microsoft.com/office/drawing/2014/main" id="{6340967B-D8D7-4455-B27D-DBB484315CE8}"/>
                </a:ext>
              </a:extLst>
            </p:cNvPr>
            <p:cNvSpPr/>
            <p:nvPr/>
          </p:nvSpPr>
          <p:spPr>
            <a:xfrm>
              <a:off x="4857195" y="3293257"/>
              <a:ext cx="498622" cy="204871"/>
            </a:xfrm>
            <a:prstGeom prst="flowChartAlternateProcess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2800">
                  <a:solidFill>
                    <a:schemeClr val="bg1"/>
                  </a:solidFill>
                </a:rPr>
                <a:t>Mise en place et déploiement d’un poste de travail préconfiguré pour qu’il soit opérationnel.</a:t>
              </a:r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533400" y="114300"/>
            <a:ext cx="16154400" cy="113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5000" dirty="0">
                <a:solidFill>
                  <a:srgbClr val="3D05AD"/>
                </a:solidFill>
                <a:latin typeface="+mj-lt"/>
              </a:rPr>
              <a:t>06. VEILLE SUR LA SUPERVISION INFORMATIQUE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1246020"/>
            <a:ext cx="15107727" cy="1024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7"/>
              </a:lnSpc>
              <a:spcBef>
                <a:spcPct val="0"/>
              </a:spcBef>
            </a:pPr>
            <a:r>
              <a:rPr lang="fr-FR" sz="2897" dirty="0">
                <a:solidFill>
                  <a:srgbClr val="3D05AD"/>
                </a:solidFill>
              </a:rPr>
              <a:t>La veille technologique consiste à s'informer de façon systématique sur les techniques et informations les plus récentes concernant un domaine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447800" y="190500"/>
            <a:ext cx="14999327" cy="113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5000" dirty="0">
                <a:solidFill>
                  <a:srgbClr val="3D05AD"/>
                </a:solidFill>
              </a:rPr>
              <a:t>06. VEILLE SUR LA SUPERVISION INFORMATIQUE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3F001A-4D57-76F9-D97A-7DAED6B8A058}"/>
              </a:ext>
            </a:extLst>
          </p:cNvPr>
          <p:cNvSpPr txBox="1"/>
          <p:nvPr/>
        </p:nvSpPr>
        <p:spPr>
          <a:xfrm>
            <a:off x="3962400" y="2095500"/>
            <a:ext cx="9144000" cy="300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latinLnBrk="0">
              <a:lnSpc>
                <a:spcPts val="3600"/>
              </a:lnSpc>
              <a:buNone/>
            </a:pPr>
            <a:r>
              <a:rPr lang="fr-FR" sz="2500" b="1" i="0" cap="all" dirty="0">
                <a:effectLst/>
                <a:latin typeface="YAFdJsjyMsM_0"/>
              </a:rPr>
              <a:t>Outils de veille </a:t>
            </a:r>
            <a:endParaRPr lang="fr-FR" sz="2500" b="0" i="0" cap="all" dirty="0">
              <a:effectLst/>
              <a:latin typeface="YAFdJsjyMsM_0"/>
            </a:endParaRPr>
          </a:p>
          <a:p>
            <a:pPr algn="l" rtl="0" latinLnBrk="0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fr-FR" sz="2500" b="0" i="0" dirty="0">
                <a:effectLst/>
                <a:latin typeface="YAFdJsjyMsM_0"/>
              </a:rPr>
              <a:t>Google </a:t>
            </a:r>
          </a:p>
          <a:p>
            <a:pPr algn="l" rtl="0" latinLnBrk="0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fr-FR" sz="2500" b="0" i="0" dirty="0">
                <a:effectLst/>
                <a:latin typeface="YAFdJsjyMsM_0"/>
              </a:rPr>
              <a:t>X</a:t>
            </a:r>
          </a:p>
          <a:p>
            <a:pPr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fr-FR" sz="2500" dirty="0"/>
              <a:t>cnil.fr</a:t>
            </a:r>
          </a:p>
          <a:p>
            <a:pPr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fr-FR" sz="2500" b="0" i="0" dirty="0" err="1">
                <a:effectLst/>
                <a:latin typeface="YAFdJsjyMsM_0"/>
              </a:rPr>
              <a:t>Feedly</a:t>
            </a:r>
            <a:endParaRPr lang="fr-FR" sz="2500" b="0" i="0" dirty="0">
              <a:effectLst/>
              <a:latin typeface="YAFdJsjyMsM_0"/>
            </a:endParaRP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854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4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96385" y="634758"/>
            <a:ext cx="12524215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>
                <a:solidFill>
                  <a:srgbClr val="3D05AD"/>
                </a:solidFill>
                <a:latin typeface="+mj-lt"/>
              </a:rPr>
              <a:t>07. PORTFOLIO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83909" y="4201429"/>
            <a:ext cx="11265593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1"/>
              </a:lnSpc>
            </a:pPr>
            <a:r>
              <a:rPr lang="en-US" sz="4100" dirty="0">
                <a:solidFill>
                  <a:srgbClr val="3D05AD"/>
                </a:solidFill>
                <a:ea typeface="+mn-lt"/>
                <a:cs typeface="+mn-lt"/>
                <a:hlinkClick r:id="rId2"/>
              </a:rPr>
              <a:t>https</a:t>
            </a:r>
            <a:r>
              <a:rPr lang="en-US" sz="4100" dirty="0">
                <a:solidFill>
                  <a:srgbClr val="3D05AD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://adamopendel.github.io/portfolio/</a:t>
            </a:r>
            <a:endParaRPr lang="en-US" sz="410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850276" y="-6818635"/>
            <a:ext cx="15350424" cy="1535042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9312" y="490818"/>
            <a:ext cx="1765320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3D05AD"/>
                </a:solidFill>
                <a:latin typeface="+mj-lt"/>
              </a:rPr>
              <a:t>08.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5400" y="2563722"/>
            <a:ext cx="17437200" cy="5699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3"/>
              </a:lnSpc>
            </a:pPr>
            <a:endParaRPr lang="fr-FR" sz="3700" dirty="0">
              <a:solidFill>
                <a:srgbClr val="000000"/>
              </a:solidFill>
            </a:endParaRPr>
          </a:p>
          <a:p>
            <a:pPr algn="ctr">
              <a:lnSpc>
                <a:spcPts val="5593"/>
              </a:lnSpc>
            </a:pPr>
            <a:r>
              <a:rPr lang="fr-FR" sz="3700" dirty="0">
                <a:solidFill>
                  <a:srgbClr val="000000"/>
                </a:solidFill>
                <a:cs typeface="Poppins"/>
              </a:rPr>
              <a:t>Ça m'a permis :</a:t>
            </a:r>
            <a:endParaRPr lang="fr-FR" sz="3700" dirty="0">
              <a:solidFill>
                <a:srgbClr val="000000"/>
              </a:solidFill>
            </a:endParaRPr>
          </a:p>
          <a:p>
            <a:pPr algn="ctr">
              <a:lnSpc>
                <a:spcPts val="5593"/>
              </a:lnSpc>
            </a:pPr>
            <a:endParaRPr lang="fr-FR" sz="3700" dirty="0">
              <a:solidFill>
                <a:srgbClr val="000000"/>
              </a:solidFill>
            </a:endParaRPr>
          </a:p>
          <a:p>
            <a:pPr algn="ctr">
              <a:lnSpc>
                <a:spcPts val="5593"/>
              </a:lnSpc>
            </a:pPr>
            <a:r>
              <a:rPr lang="fr-FR" sz="3700" dirty="0">
                <a:solidFill>
                  <a:srgbClr val="000000"/>
                </a:solidFill>
              </a:rPr>
              <a:t>Acquisition de </a:t>
            </a:r>
            <a:r>
              <a:rPr lang="fr-FR" sz="3700" b="1" dirty="0">
                <a:solidFill>
                  <a:srgbClr val="000000"/>
                </a:solidFill>
              </a:rPr>
              <a:t>nouvelles compétences </a:t>
            </a:r>
            <a:r>
              <a:rPr lang="fr-FR" sz="3700" dirty="0">
                <a:solidFill>
                  <a:srgbClr val="000000"/>
                </a:solidFill>
              </a:rPr>
              <a:t>et d'un </a:t>
            </a:r>
            <a:r>
              <a:rPr lang="fr-FR" sz="3700" b="1" dirty="0">
                <a:solidFill>
                  <a:srgbClr val="000000"/>
                </a:solidFill>
              </a:rPr>
              <a:t>savoir-faire professionnel</a:t>
            </a:r>
            <a:endParaRPr lang="fr-FR" dirty="0"/>
          </a:p>
          <a:p>
            <a:pPr algn="ctr">
              <a:lnSpc>
                <a:spcPts val="5593"/>
              </a:lnSpc>
            </a:pPr>
            <a:r>
              <a:rPr lang="fr-FR" sz="3729" dirty="0">
                <a:solidFill>
                  <a:srgbClr val="000000"/>
                </a:solidFill>
              </a:rPr>
              <a:t>Développement de mon </a:t>
            </a:r>
            <a:r>
              <a:rPr lang="fr-FR" sz="3729" b="1" dirty="0">
                <a:solidFill>
                  <a:srgbClr val="000000"/>
                </a:solidFill>
              </a:rPr>
              <a:t>autonomie</a:t>
            </a:r>
            <a:r>
              <a:rPr lang="fr-FR" sz="3729" dirty="0">
                <a:solidFill>
                  <a:srgbClr val="000000"/>
                </a:solidFill>
              </a:rPr>
              <a:t>, </a:t>
            </a:r>
            <a:r>
              <a:rPr lang="fr-FR" sz="3729" b="1" dirty="0">
                <a:solidFill>
                  <a:srgbClr val="000000"/>
                </a:solidFill>
              </a:rPr>
              <a:t>rigueur</a:t>
            </a:r>
            <a:r>
              <a:rPr lang="fr-FR" sz="3729" dirty="0">
                <a:solidFill>
                  <a:srgbClr val="000000"/>
                </a:solidFill>
              </a:rPr>
              <a:t> dans mon travail</a:t>
            </a:r>
          </a:p>
          <a:p>
            <a:pPr algn="ctr">
              <a:lnSpc>
                <a:spcPts val="5593"/>
              </a:lnSpc>
            </a:pPr>
            <a:r>
              <a:rPr lang="fr-FR" sz="3729" dirty="0">
                <a:solidFill>
                  <a:srgbClr val="000000"/>
                </a:solidFill>
              </a:rPr>
              <a:t>Amélioration de mes </a:t>
            </a:r>
            <a:r>
              <a:rPr lang="fr-FR" sz="3729" b="1" dirty="0">
                <a:solidFill>
                  <a:srgbClr val="000000"/>
                </a:solidFill>
              </a:rPr>
              <a:t>qualités relationnelles </a:t>
            </a:r>
            <a:r>
              <a:rPr lang="fr-FR" sz="3729" dirty="0">
                <a:solidFill>
                  <a:srgbClr val="000000"/>
                </a:solidFill>
              </a:rPr>
              <a:t>dans le monde professionnel</a:t>
            </a:r>
          </a:p>
          <a:p>
            <a:pPr algn="ctr">
              <a:lnSpc>
                <a:spcPts val="5593"/>
              </a:lnSpc>
            </a:pPr>
            <a:r>
              <a:rPr lang="fr-FR" sz="3729" dirty="0">
                <a:solidFill>
                  <a:srgbClr val="000000"/>
                </a:solidFill>
              </a:rPr>
              <a:t>Découverte d'un domaine qui me </a:t>
            </a:r>
            <a:r>
              <a:rPr lang="fr-FR" sz="3729" b="1" dirty="0">
                <a:solidFill>
                  <a:srgbClr val="000000"/>
                </a:solidFill>
              </a:rPr>
              <a:t>passionne</a:t>
            </a:r>
            <a:r>
              <a:rPr lang="fr-FR" sz="3729" dirty="0">
                <a:solidFill>
                  <a:srgbClr val="000000"/>
                </a:solidFill>
              </a:rPr>
              <a:t> encore plus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4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473903" y="2360238"/>
            <a:ext cx="10964413" cy="282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50">
                <a:solidFill>
                  <a:srgbClr val="3D05AD"/>
                </a:solidFill>
                <a:latin typeface="+mj-lt"/>
              </a:rPr>
              <a:t>MERCI DE VOTRE ATTENTION !</a:t>
            </a:r>
            <a:endParaRPr lang="en-US" sz="9999" dirty="0">
              <a:solidFill>
                <a:srgbClr val="3D05AD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nalisé 1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Personnalisé</PresentationFormat>
  <Paragraphs>101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Poppins</vt:lpstr>
      <vt:lpstr>Arial</vt:lpstr>
      <vt:lpstr>Poppins ExtraBold</vt:lpstr>
      <vt:lpstr>Calibri</vt:lpstr>
      <vt:lpstr>Poppins Medium</vt:lpstr>
      <vt:lpstr>YAFdJsjyMsM_0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Parcours de professionnalisation</dc:title>
  <dc:creator>Aïcha Kannoui</dc:creator>
  <cp:lastModifiedBy>Adam Ken</cp:lastModifiedBy>
  <cp:revision>381</cp:revision>
  <dcterms:created xsi:type="dcterms:W3CDTF">2006-08-16T00:00:00Z</dcterms:created>
  <dcterms:modified xsi:type="dcterms:W3CDTF">2026-05-21T17:02:01Z</dcterms:modified>
  <dc:identifier>DAE5pkyRO78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1ee20b-2db6-434b-a656-4500d2063055_Enabled">
    <vt:lpwstr>true</vt:lpwstr>
  </property>
  <property fmtid="{D5CDD505-2E9C-101B-9397-08002B2CF9AE}" pid="3" name="MSIP_Label_021ee20b-2db6-434b-a656-4500d2063055_SetDate">
    <vt:lpwstr>2022-04-14T10:11:38Z</vt:lpwstr>
  </property>
  <property fmtid="{D5CDD505-2E9C-101B-9397-08002B2CF9AE}" pid="4" name="MSIP_Label_021ee20b-2db6-434b-a656-4500d2063055_Method">
    <vt:lpwstr>Privileged</vt:lpwstr>
  </property>
  <property fmtid="{D5CDD505-2E9C-101B-9397-08002B2CF9AE}" pid="5" name="MSIP_Label_021ee20b-2db6-434b-a656-4500d2063055_Name">
    <vt:lpwstr>Sans Marquage - Groupe et Réseau</vt:lpwstr>
  </property>
  <property fmtid="{D5CDD505-2E9C-101B-9397-08002B2CF9AE}" pid="6" name="MSIP_Label_021ee20b-2db6-434b-a656-4500d2063055_SiteId">
    <vt:lpwstr>4a7c8238-5799-4b16-9fc6-9ad8fce5a7d9</vt:lpwstr>
  </property>
  <property fmtid="{D5CDD505-2E9C-101B-9397-08002B2CF9AE}" pid="7" name="MSIP_Label_021ee20b-2db6-434b-a656-4500d2063055_ActionId">
    <vt:lpwstr>e46cc0c8-203b-401c-8870-20bb2f0af8d9</vt:lpwstr>
  </property>
  <property fmtid="{D5CDD505-2E9C-101B-9397-08002B2CF9AE}" pid="8" name="MSIP_Label_021ee20b-2db6-434b-a656-4500d2063055_ContentBits">
    <vt:lpwstr>0</vt:lpwstr>
  </property>
</Properties>
</file>